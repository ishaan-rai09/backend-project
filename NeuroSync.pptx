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sldIdLst>
    <p:sldId id="256" r:id="rId2"/>
    <p:sldId id="261" r:id="rId3"/>
    <p:sldId id="257" r:id="rId4"/>
    <p:sldId id="258" r:id="rId5"/>
    <p:sldId id="259" r:id="rId6"/>
    <p:sldId id="260" r:id="rId7"/>
    <p:sldId id="268" r:id="rId8"/>
    <p:sldId id="262" r:id="rId9"/>
    <p:sldId id="264" r:id="rId10"/>
    <p:sldId id="265" r:id="rId11"/>
    <p:sldId id="266" r:id="rId12"/>
    <p:sldId id="267" r:id="rId13"/>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9" roundtripDataSignature="AMtx7mhrpOtJkB+nYUz5n3oaf6YKxntdW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865E338-6E34-4DBC-830E-CF6C46E98416}">
  <a:tblStyle styleId="{6865E338-6E34-4DBC-830E-CF6C46E98416}" styleName="Table_0">
    <a:wholeTbl>
      <a:tcTxStyle b="off" i="off">
        <a:font>
          <a:latin typeface="Arial"/>
          <a:ea typeface="Arial"/>
          <a:cs typeface="Arial"/>
        </a:font>
        <a:schemeClr val="dk1"/>
      </a:tcTxStyle>
      <a:tcStyle>
        <a:tcBdr>
          <a:left>
            <a:ln w="9525" cap="flat" cmpd="sng">
              <a:solidFill>
                <a:schemeClr val="accent3"/>
              </a:solidFill>
              <a:prstDash val="solid"/>
              <a:round/>
              <a:headEnd type="none" w="sm" len="sm"/>
              <a:tailEnd type="none" w="sm" len="sm"/>
            </a:ln>
          </a:left>
          <a:right>
            <a:ln w="9525" cap="flat" cmpd="sng">
              <a:solidFill>
                <a:schemeClr val="accent3"/>
              </a:solidFill>
              <a:prstDash val="solid"/>
              <a:round/>
              <a:headEnd type="none" w="sm" len="sm"/>
              <a:tailEnd type="none" w="sm" len="sm"/>
            </a:ln>
          </a:right>
          <a:top>
            <a:ln w="9525" cap="flat" cmpd="sng">
              <a:solidFill>
                <a:schemeClr val="accent3"/>
              </a:solidFill>
              <a:prstDash val="solid"/>
              <a:round/>
              <a:headEnd type="none" w="sm" len="sm"/>
              <a:tailEnd type="none" w="sm" len="sm"/>
            </a:ln>
          </a:top>
          <a:bottom>
            <a:ln w="9525" cap="flat" cmpd="sng">
              <a:solidFill>
                <a:schemeClr val="accent3"/>
              </a:solidFill>
              <a:prstDash val="solid"/>
              <a:round/>
              <a:headEnd type="none" w="sm" len="sm"/>
              <a:tailEnd type="none" w="sm" len="sm"/>
            </a:ln>
          </a:bottom>
          <a:insideH>
            <a:ln w="9525" cap="flat" cmpd="sng">
              <a:solidFill>
                <a:schemeClr val="accent3"/>
              </a:solidFill>
              <a:prstDash val="solid"/>
              <a:round/>
              <a:headEnd type="none" w="sm" len="sm"/>
              <a:tailEnd type="none" w="sm" len="sm"/>
            </a:ln>
          </a:insideH>
          <a:insideV>
            <a:ln w="9525" cap="flat" cmpd="sng">
              <a:solidFill>
                <a:schemeClr val="accent3"/>
              </a:solidFill>
              <a:prstDash val="solid"/>
              <a:round/>
              <a:headEnd type="none" w="sm" len="sm"/>
              <a:tailEnd type="none" w="sm" len="sm"/>
            </a:ln>
          </a:insideV>
        </a:tcBdr>
        <a:fill>
          <a:solidFill>
            <a:srgbClr val="FFFFFF">
              <a:alpha val="0"/>
            </a:srgbClr>
          </a:solidFill>
        </a:fill>
      </a:tcStyle>
    </a:wholeTbl>
    <a:band1H>
      <a:tcTxStyle/>
      <a:tcStyle>
        <a:tcBdr/>
        <a:fill>
          <a:solidFill>
            <a:schemeClr val="accent3">
              <a:alpha val="40000"/>
            </a:schemeClr>
          </a:solidFill>
        </a:fill>
      </a:tcStyle>
    </a:band1H>
    <a:band2H>
      <a:tcTxStyle/>
      <a:tcStyle>
        <a:tcBdr/>
      </a:tcStyle>
    </a:band2H>
    <a:band1V>
      <a:tcTxStyle/>
      <a:tcStyle>
        <a:tcBdr>
          <a:top>
            <a:ln w="9525" cap="flat" cmpd="sng">
              <a:solidFill>
                <a:schemeClr val="accent3"/>
              </a:solidFill>
              <a:prstDash val="solid"/>
              <a:round/>
              <a:headEnd type="none" w="sm" len="sm"/>
              <a:tailEnd type="none" w="sm" len="sm"/>
            </a:ln>
          </a:top>
          <a:bottom>
            <a:ln w="9525" cap="flat" cmpd="sng">
              <a:solidFill>
                <a:schemeClr val="accent3"/>
              </a:solidFill>
              <a:prstDash val="solid"/>
              <a:round/>
              <a:headEnd type="none" w="sm" len="sm"/>
              <a:tailEnd type="none" w="sm" len="sm"/>
            </a:ln>
          </a:bottom>
        </a:tcBdr>
        <a:fill>
          <a:solidFill>
            <a:schemeClr val="accent3">
              <a:alpha val="40000"/>
            </a:schemeClr>
          </a:solidFill>
        </a:fill>
      </a:tcStyle>
    </a:band1V>
    <a:band2V>
      <a:tcTxStyle/>
      <a:tcStyle>
        <a:tcBdr/>
      </a:tcStyle>
    </a:band2V>
    <a:lastCol>
      <a:tcTxStyle b="on" i="off"/>
      <a:tcStyle>
        <a:tcBdr>
          <a:left>
            <a:ln w="9525" cap="flat" cmpd="sng">
              <a:solidFill>
                <a:schemeClr val="accent3"/>
              </a:solidFill>
              <a:prstDash val="solid"/>
              <a:round/>
              <a:headEnd type="none" w="sm" len="sm"/>
              <a:tailEnd type="none" w="sm" len="sm"/>
            </a:ln>
          </a:left>
          <a:right>
            <a:ln w="9525" cap="flat" cmpd="sng">
              <a:solidFill>
                <a:schemeClr val="accent3"/>
              </a:solidFill>
              <a:prstDash val="solid"/>
              <a:round/>
              <a:headEnd type="none" w="sm" len="sm"/>
              <a:tailEnd type="none" w="sm" len="sm"/>
            </a:ln>
          </a:right>
          <a:top>
            <a:ln w="9525" cap="flat" cmpd="sng">
              <a:solidFill>
                <a:schemeClr val="accent3"/>
              </a:solidFill>
              <a:prstDash val="solid"/>
              <a:round/>
              <a:headEnd type="none" w="sm" len="sm"/>
              <a:tailEnd type="none" w="sm" len="sm"/>
            </a:ln>
          </a:top>
          <a:bottom>
            <a:ln w="9525" cap="flat" cmpd="sng">
              <a:solidFill>
                <a:schemeClr val="accent3"/>
              </a:solidFill>
              <a:prstDash val="solid"/>
              <a:round/>
              <a:headEnd type="none" w="sm" len="sm"/>
              <a:tailEnd type="none" w="sm" len="sm"/>
            </a:ln>
          </a:bottom>
          <a:insideH>
            <a:ln w="9525" cap="flat" cmpd="sng">
              <a:solidFill>
                <a:schemeClr val="accent3"/>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lastCol>
    <a:firstCol>
      <a:tcTxStyle b="on" i="off"/>
      <a:tcStyle>
        <a:tcBdr>
          <a:left>
            <a:ln w="9525" cap="flat" cmpd="sng">
              <a:solidFill>
                <a:schemeClr val="accent3"/>
              </a:solidFill>
              <a:prstDash val="solid"/>
              <a:round/>
              <a:headEnd type="none" w="sm" len="sm"/>
              <a:tailEnd type="none" w="sm" len="sm"/>
            </a:ln>
          </a:left>
          <a:right>
            <a:ln w="9525" cap="flat" cmpd="sng">
              <a:solidFill>
                <a:schemeClr val="accent3"/>
              </a:solidFill>
              <a:prstDash val="solid"/>
              <a:round/>
              <a:headEnd type="none" w="sm" len="sm"/>
              <a:tailEnd type="none" w="sm" len="sm"/>
            </a:ln>
          </a:right>
          <a:top>
            <a:ln w="9525" cap="flat" cmpd="sng">
              <a:solidFill>
                <a:schemeClr val="accent3"/>
              </a:solidFill>
              <a:prstDash val="solid"/>
              <a:round/>
              <a:headEnd type="none" w="sm" len="sm"/>
              <a:tailEnd type="none" w="sm" len="sm"/>
            </a:ln>
          </a:top>
          <a:bottom>
            <a:ln w="9525" cap="flat" cmpd="sng">
              <a:solidFill>
                <a:schemeClr val="accent3"/>
              </a:solidFill>
              <a:prstDash val="solid"/>
              <a:round/>
              <a:headEnd type="none" w="sm" len="sm"/>
              <a:tailEnd type="none" w="sm" len="sm"/>
            </a:ln>
          </a:bottom>
          <a:insideH>
            <a:ln w="9525" cap="flat" cmpd="sng">
              <a:solidFill>
                <a:schemeClr val="accent3"/>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tcStyle>
    </a:firstCol>
    <a:lastRow>
      <a:tcTxStyle b="on" i="off"/>
      <a:tcStyle>
        <a:tcBdr>
          <a:left>
            <a:ln w="9525" cap="flat" cmpd="sng">
              <a:solidFill>
                <a:schemeClr val="accent3"/>
              </a:solidFill>
              <a:prstDash val="solid"/>
              <a:round/>
              <a:headEnd type="none" w="sm" len="sm"/>
              <a:tailEnd type="none" w="sm" len="sm"/>
            </a:ln>
          </a:left>
          <a:right>
            <a:ln w="9525" cap="flat" cmpd="sng">
              <a:solidFill>
                <a:schemeClr val="accent3"/>
              </a:solidFill>
              <a:prstDash val="solid"/>
              <a:round/>
              <a:headEnd type="none" w="sm" len="sm"/>
              <a:tailEnd type="none" w="sm" len="sm"/>
            </a:ln>
          </a:right>
          <a:top>
            <a:ln w="9525" cap="flat" cmpd="sng">
              <a:solidFill>
                <a:schemeClr val="accent3"/>
              </a:solidFill>
              <a:prstDash val="solid"/>
              <a:round/>
              <a:headEnd type="none" w="sm" len="sm"/>
              <a:tailEnd type="none" w="sm" len="sm"/>
            </a:ln>
          </a:top>
          <a:bottom>
            <a:ln w="9525" cap="flat" cmpd="sng">
              <a:solidFill>
                <a:schemeClr val="accent3"/>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left>
            <a:ln w="9525" cap="flat" cmpd="sng">
              <a:solidFill>
                <a:schemeClr val="accent3"/>
              </a:solidFill>
              <a:prstDash val="solid"/>
              <a:round/>
              <a:headEnd type="none" w="sm" len="sm"/>
              <a:tailEnd type="none" w="sm" len="sm"/>
            </a:ln>
          </a:left>
          <a:right>
            <a:ln w="9525" cap="flat" cmpd="sng">
              <a:solidFill>
                <a:schemeClr val="accent3"/>
              </a:solidFill>
              <a:prstDash val="solid"/>
              <a:round/>
              <a:headEnd type="none" w="sm" len="sm"/>
              <a:tailEnd type="none" w="sm" len="sm"/>
            </a:ln>
          </a:right>
          <a:top>
            <a:ln w="9525" cap="flat" cmpd="sng">
              <a:solidFill>
                <a:schemeClr val="accent3"/>
              </a:solidFill>
              <a:prstDash val="solid"/>
              <a:round/>
              <a:headEnd type="none" w="sm" len="sm"/>
              <a:tailEnd type="none" w="sm" len="sm"/>
            </a:ln>
          </a:top>
          <a:bottom>
            <a:ln w="9525" cap="flat" cmpd="sng">
              <a:solidFill>
                <a:schemeClr val="l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accent3"/>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1220"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23" Type="http://schemas.openxmlformats.org/officeDocument/2006/relationships/tableStyles" Target="tableStyles.xml"/><Relationship Id="rId10" Type="http://schemas.openxmlformats.org/officeDocument/2006/relationships/slide" Target="slides/slide9.xml"/><Relationship Id="rId19"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42" name="Google Shape;4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78" name="Google Shape;78;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49" name="Google Shape;49;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56" name="Google Shape;5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63" name="Google Shape;63;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70" name="Google Shape;70;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A040134F-21D0-D54B-6F7E-2BF8112E7737}"/>
            </a:ext>
          </a:extLst>
        </p:cNvPr>
        <p:cNvGrpSpPr/>
        <p:nvPr/>
      </p:nvGrpSpPr>
      <p:grpSpPr>
        <a:xfrm>
          <a:off x="0" y="0"/>
          <a:ext cx="0" cy="0"/>
          <a:chOff x="0" y="0"/>
          <a:chExt cx="0" cy="0"/>
        </a:xfrm>
      </p:grpSpPr>
      <p:sp>
        <p:nvSpPr>
          <p:cNvPr id="69" name="Google Shape;69;p5:notes">
            <a:extLst>
              <a:ext uri="{FF2B5EF4-FFF2-40B4-BE49-F238E27FC236}">
                <a16:creationId xmlns:a16="http://schemas.microsoft.com/office/drawing/2014/main" id="{7828B6E5-B4DC-9C3E-975D-31ACA6237C9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70" name="Google Shape;70;p5:notes">
            <a:extLst>
              <a:ext uri="{FF2B5EF4-FFF2-40B4-BE49-F238E27FC236}">
                <a16:creationId xmlns:a16="http://schemas.microsoft.com/office/drawing/2014/main" id="{EB84611E-D529-8F0F-7E7B-933A7ACFE47B}"/>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419172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5" name="Google Shape;85;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01" name="Google Shape;101;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09" name="Google Shape;109;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17" name="Google Shape;117;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8232206ad3_1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8232206ad3_1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6" name="Google Shape;126;g38232206ad3_1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pic>
        <p:nvPicPr>
          <p:cNvPr id="25" name="Google Shape;25;p14" descr="LOGO.gif"/>
          <p:cNvPicPr preferRelativeResize="0"/>
          <p:nvPr/>
        </p:nvPicPr>
        <p:blipFill rotWithShape="1">
          <a:blip r:embed="rId2">
            <a:alphaModFix/>
          </a:blip>
          <a:srcRect b="10713"/>
          <a:stretch/>
        </p:blipFill>
        <p:spPr>
          <a:xfrm>
            <a:off x="6553200" y="228600"/>
            <a:ext cx="2057400" cy="635000"/>
          </a:xfrm>
          <a:prstGeom prst="rect">
            <a:avLst/>
          </a:prstGeom>
          <a:noFill/>
          <a:ln>
            <a:noFill/>
          </a:ln>
        </p:spPr>
      </p:pic>
      <p:grpSp>
        <p:nvGrpSpPr>
          <p:cNvPr id="26" name="Google Shape;26;p14"/>
          <p:cNvGrpSpPr/>
          <p:nvPr/>
        </p:nvGrpSpPr>
        <p:grpSpPr>
          <a:xfrm>
            <a:off x="6146800" y="0"/>
            <a:ext cx="2997200" cy="876300"/>
            <a:chOff x="6096000" y="3924300"/>
            <a:chExt cx="2997200" cy="876300"/>
          </a:xfrm>
        </p:grpSpPr>
        <p:sp>
          <p:nvSpPr>
            <p:cNvPr id="27" name="Google Shape;27;p14"/>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8" name="Google Shape;28;p14" descr="LOGO.gif"/>
            <p:cNvPicPr preferRelativeResize="0"/>
            <p:nvPr/>
          </p:nvPicPr>
          <p:blipFill rotWithShape="1">
            <a:blip r:embed="rId2">
              <a:alphaModFix/>
            </a:blip>
            <a:srcRect b="10713"/>
            <a:stretch/>
          </p:blipFill>
          <p:spPr>
            <a:xfrm>
              <a:off x="6502400" y="4152900"/>
              <a:ext cx="2057400" cy="635000"/>
            </a:xfrm>
            <a:prstGeom prst="rect">
              <a:avLst/>
            </a:prstGeom>
            <a:noFill/>
            <a:ln>
              <a:noFill/>
            </a:ln>
          </p:spPr>
        </p:pic>
        <p:sp>
          <p:nvSpPr>
            <p:cNvPr id="29" name="Google Shape;29;p14"/>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pic>
        <p:nvPicPr>
          <p:cNvPr id="30" name="Google Shape;30;p14" descr="logo.jpg"/>
          <p:cNvPicPr preferRelativeResize="0"/>
          <p:nvPr/>
        </p:nvPicPr>
        <p:blipFill rotWithShape="1">
          <a:blip r:embed="rId3">
            <a:alphaModFix/>
          </a:blip>
          <a:srcRect/>
          <a:stretch/>
        </p:blipFill>
        <p:spPr>
          <a:xfrm>
            <a:off x="6553200" y="228600"/>
            <a:ext cx="1920875" cy="609600"/>
          </a:xfrm>
          <a:prstGeom prst="rect">
            <a:avLst/>
          </a:prstGeom>
          <a:noFill/>
          <a:ln>
            <a:noFill/>
          </a:ln>
        </p:spPr>
      </p:pic>
      <p:sp>
        <p:nvSpPr>
          <p:cNvPr id="31" name="Google Shape;31;p1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2" name="Google Shape;32;p14"/>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3" name="Google Shape;33;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4"/>
          <p:cNvSpPr txBox="1">
            <a:spLocks noGrp="1"/>
          </p:cNvSpPr>
          <p:nvPr>
            <p:ph type="ftr" idx="11"/>
          </p:nvPr>
        </p:nvSpPr>
        <p:spPr>
          <a:xfrm>
            <a:off x="3211606" y="6356349"/>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36"/>
        <p:cNvGrpSpPr/>
        <p:nvPr/>
      </p:nvGrpSpPr>
      <p:grpSpPr>
        <a:xfrm>
          <a:off x="0" y="0"/>
          <a:ext cx="0" cy="0"/>
          <a:chOff x="0" y="0"/>
          <a:chExt cx="0" cy="0"/>
        </a:xfrm>
      </p:grpSpPr>
      <p:sp>
        <p:nvSpPr>
          <p:cNvPr id="37" name="Google Shape;37;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9pPr>
          </a:lstStyle>
          <a:p>
            <a:endParaRPr/>
          </a:p>
        </p:txBody>
      </p:sp>
      <p:sp>
        <p:nvSpPr>
          <p:cNvPr id="11" name="Google Shape;11;p13"/>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13"/>
          <p:cNvSpPr/>
          <p:nvPr/>
        </p:nvSpPr>
        <p:spPr>
          <a:xfrm>
            <a:off x="0" y="0"/>
            <a:ext cx="9144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 name="Google Shape;16;p13"/>
          <p:cNvSpPr/>
          <p:nvPr/>
        </p:nvSpPr>
        <p:spPr>
          <a:xfrm rot="10800000" flipH="1">
            <a:off x="0" y="6705600"/>
            <a:ext cx="9144000" cy="1981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7" name="Google Shape;17;p13" descr="LOGO.gif"/>
          <p:cNvPicPr preferRelativeResize="0"/>
          <p:nvPr/>
        </p:nvPicPr>
        <p:blipFill rotWithShape="1">
          <a:blip r:embed="rId4">
            <a:alphaModFix/>
          </a:blip>
          <a:srcRect b="10713"/>
          <a:stretch/>
        </p:blipFill>
        <p:spPr>
          <a:xfrm>
            <a:off x="6553200" y="228600"/>
            <a:ext cx="2057400" cy="635000"/>
          </a:xfrm>
          <a:prstGeom prst="rect">
            <a:avLst/>
          </a:prstGeom>
          <a:noFill/>
          <a:ln>
            <a:noFill/>
          </a:ln>
        </p:spPr>
      </p:pic>
      <p:pic>
        <p:nvPicPr>
          <p:cNvPr id="18" name="Google Shape;18;p13" descr="LOGO.gif"/>
          <p:cNvPicPr preferRelativeResize="0"/>
          <p:nvPr/>
        </p:nvPicPr>
        <p:blipFill rotWithShape="1">
          <a:blip r:embed="rId4">
            <a:alphaModFix/>
          </a:blip>
          <a:srcRect b="10713"/>
          <a:stretch/>
        </p:blipFill>
        <p:spPr>
          <a:xfrm>
            <a:off x="6553200" y="228600"/>
            <a:ext cx="2057400" cy="635000"/>
          </a:xfrm>
          <a:prstGeom prst="rect">
            <a:avLst/>
          </a:prstGeom>
          <a:noFill/>
          <a:ln>
            <a:noFill/>
          </a:ln>
        </p:spPr>
      </p:pic>
      <p:grpSp>
        <p:nvGrpSpPr>
          <p:cNvPr id="19" name="Google Shape;19;p13"/>
          <p:cNvGrpSpPr/>
          <p:nvPr/>
        </p:nvGrpSpPr>
        <p:grpSpPr>
          <a:xfrm>
            <a:off x="6146800" y="0"/>
            <a:ext cx="2997200" cy="876300"/>
            <a:chOff x="6096000" y="3924300"/>
            <a:chExt cx="2997200" cy="876300"/>
          </a:xfrm>
        </p:grpSpPr>
        <p:sp>
          <p:nvSpPr>
            <p:cNvPr id="20" name="Google Shape;20;p13"/>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1" name="Google Shape;21;p13" descr="LOGO.gif"/>
            <p:cNvPicPr preferRelativeResize="0"/>
            <p:nvPr/>
          </p:nvPicPr>
          <p:blipFill rotWithShape="1">
            <a:blip r:embed="rId4">
              <a:alphaModFix/>
            </a:blip>
            <a:srcRect b="10713"/>
            <a:stretch/>
          </p:blipFill>
          <p:spPr>
            <a:xfrm>
              <a:off x="6502400" y="4152900"/>
              <a:ext cx="2057400" cy="635000"/>
            </a:xfrm>
            <a:prstGeom prst="rect">
              <a:avLst/>
            </a:prstGeom>
            <a:noFill/>
            <a:ln>
              <a:noFill/>
            </a:ln>
          </p:spPr>
        </p:pic>
        <p:sp>
          <p:nvSpPr>
            <p:cNvPr id="22" name="Google Shape;22;p13"/>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pic>
        <p:nvPicPr>
          <p:cNvPr id="23" name="Google Shape;23;p13" descr="logo.jpg"/>
          <p:cNvPicPr preferRelativeResize="0"/>
          <p:nvPr/>
        </p:nvPicPr>
        <p:blipFill rotWithShape="1">
          <a:blip r:embed="rId5">
            <a:alphaModFix/>
          </a:blip>
          <a:srcRect/>
          <a:stretch/>
        </p:blipFill>
        <p:spPr>
          <a:xfrm>
            <a:off x="6553200" y="228600"/>
            <a:ext cx="1920875" cy="609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atin typeface="Times New Roman"/>
                <a:ea typeface="Times New Roman"/>
                <a:cs typeface="Times New Roman"/>
                <a:sym typeface="Times New Roman"/>
              </a:rPr>
              <a:t>1</a:t>
            </a:fld>
            <a:endParaRPr>
              <a:latin typeface="Times New Roman"/>
              <a:ea typeface="Times New Roman"/>
              <a:cs typeface="Times New Roman"/>
              <a:sym typeface="Times New Roman"/>
            </a:endParaRPr>
          </a:p>
        </p:txBody>
      </p:sp>
      <p:sp>
        <p:nvSpPr>
          <p:cNvPr id="45" name="Google Shape;45;p1"/>
          <p:cNvSpPr txBox="1"/>
          <p:nvPr/>
        </p:nvSpPr>
        <p:spPr>
          <a:xfrm>
            <a:off x="-162701" y="2072400"/>
            <a:ext cx="9144000" cy="4506015"/>
          </a:xfrm>
          <a:prstGeom prst="rect">
            <a:avLst/>
          </a:prstGeom>
          <a:noFill/>
          <a:ln>
            <a:noFill/>
          </a:ln>
        </p:spPr>
        <p:txBody>
          <a:bodyPr spcFirstLastPara="1" wrap="square" lIns="91425" tIns="331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endParaRPr sz="2800" b="1" i="0" u="none" strike="noStrike" cap="none" dirty="0">
              <a:solidFill>
                <a:srgbClr val="00206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3200"/>
              <a:buFont typeface="Arial"/>
              <a:buNone/>
            </a:pPr>
            <a:endParaRPr sz="3600" b="1" i="0" u="none" strike="noStrike" cap="none" dirty="0">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3200"/>
              <a:buFont typeface="Arial"/>
              <a:buNone/>
            </a:pPr>
            <a:endParaRPr sz="3600" b="1" i="0" u="none" strike="noStrike" cap="none" dirty="0">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3200"/>
              <a:buFont typeface="Arial"/>
              <a:buNone/>
            </a:pPr>
            <a:r>
              <a:rPr lang="en-US" sz="3600" b="1" i="0" u="none" strike="noStrike" cap="none" dirty="0">
                <a:solidFill>
                  <a:srgbClr val="FF0000"/>
                </a:solidFill>
                <a:latin typeface="Times New Roman"/>
                <a:ea typeface="Times New Roman"/>
                <a:cs typeface="Times New Roman"/>
                <a:sym typeface="Times New Roman"/>
              </a:rPr>
              <a:t>NeuroSync AI</a:t>
            </a:r>
            <a:r>
              <a:rPr lang="en-US" sz="3200" b="1" i="1" u="none" strike="noStrike" cap="none" dirty="0">
                <a:solidFill>
                  <a:srgbClr val="FF0000"/>
                </a:solidFill>
                <a:latin typeface="Times New Roman"/>
                <a:ea typeface="Times New Roman"/>
                <a:cs typeface="Times New Roman"/>
                <a:sym typeface="Times New Roman"/>
              </a:rPr>
              <a:t> </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endParaRPr sz="2400" b="1" i="0" u="none" strike="noStrike" cap="none" dirty="0">
              <a:solidFill>
                <a:srgbClr val="FF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3200"/>
              <a:buFont typeface="Arial"/>
              <a:buNone/>
            </a:pP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dk2"/>
                </a:solidFill>
                <a:latin typeface="Times New Roman"/>
                <a:ea typeface="Times New Roman"/>
                <a:cs typeface="Times New Roman"/>
                <a:sym typeface="Times New Roman"/>
              </a:rPr>
              <a:t>Ishaan Rai, 2310991933</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1" dirty="0">
                <a:solidFill>
                  <a:schemeClr val="dk2"/>
                </a:solidFill>
                <a:latin typeface="Times New Roman"/>
                <a:ea typeface="Times New Roman"/>
                <a:cs typeface="Times New Roman"/>
                <a:sym typeface="Times New Roman"/>
              </a:rPr>
              <a:t>Swapnil Gaur</a:t>
            </a:r>
            <a:r>
              <a:rPr lang="en-US" sz="1800" b="1" i="0" u="none" strike="noStrike" cap="none" dirty="0">
                <a:solidFill>
                  <a:schemeClr val="dk2"/>
                </a:solidFill>
                <a:latin typeface="Times New Roman"/>
                <a:ea typeface="Times New Roman"/>
                <a:cs typeface="Times New Roman"/>
                <a:sym typeface="Times New Roman"/>
              </a:rPr>
              <a:t>, 2310991222</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1" dirty="0">
                <a:solidFill>
                  <a:schemeClr val="dk2"/>
                </a:solidFill>
                <a:latin typeface="Times New Roman"/>
                <a:ea typeface="Times New Roman"/>
                <a:cs typeface="Times New Roman"/>
                <a:sym typeface="Times New Roman"/>
              </a:rPr>
              <a:t>Harshit Gupta</a:t>
            </a:r>
            <a:r>
              <a:rPr lang="en-US" sz="1800" b="1" i="0" u="none" strike="noStrike" cap="none" dirty="0">
                <a:solidFill>
                  <a:schemeClr val="dk2"/>
                </a:solidFill>
                <a:latin typeface="Times New Roman"/>
                <a:ea typeface="Times New Roman"/>
                <a:cs typeface="Times New Roman"/>
                <a:sym typeface="Times New Roman"/>
              </a:rPr>
              <a:t>, 2310991927</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endParaRPr sz="1800" b="1" i="0" u="none" strike="noStrike" cap="none" dirty="0">
              <a:solidFill>
                <a:schemeClr val="dk2"/>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dk2"/>
                </a:solidFill>
                <a:latin typeface="Times New Roman"/>
                <a:ea typeface="Times New Roman"/>
                <a:cs typeface="Times New Roman"/>
                <a:sym typeface="Times New Roman"/>
              </a:rPr>
              <a:t>Class Group: G-22</a:t>
            </a:r>
            <a:endParaRPr sz="1800" b="1" i="0" u="none" strike="noStrike" cap="none" dirty="0">
              <a:solidFill>
                <a:schemeClr val="dk2"/>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endParaRPr sz="1800" b="1" i="0" u="none" strike="noStrike" cap="none" dirty="0">
              <a:solidFill>
                <a:schemeClr val="dk2"/>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chemeClr val="dk2"/>
                </a:solidFill>
                <a:latin typeface="Times New Roman"/>
                <a:ea typeface="Times New Roman"/>
                <a:cs typeface="Times New Roman"/>
                <a:sym typeface="Times New Roman"/>
              </a:rPr>
              <a:t>      Submitted To :                                                                                   Faculty:</a:t>
            </a:r>
            <a:endParaRPr dirty="0"/>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chemeClr val="dk2"/>
                </a:solidFill>
                <a:latin typeface="Times New Roman"/>
                <a:ea typeface="Times New Roman"/>
                <a:cs typeface="Times New Roman"/>
                <a:sym typeface="Times New Roman"/>
              </a:rPr>
              <a:t>      Mr. </a:t>
            </a:r>
            <a:r>
              <a:rPr lang="en-US" sz="1800" b="1" dirty="0">
                <a:solidFill>
                  <a:schemeClr val="dk2"/>
                </a:solidFill>
                <a:latin typeface="Times New Roman"/>
                <a:ea typeface="Times New Roman"/>
                <a:cs typeface="Times New Roman"/>
                <a:sym typeface="Times New Roman"/>
              </a:rPr>
              <a:t>Rohit</a:t>
            </a:r>
            <a:r>
              <a:rPr lang="en-US" sz="1800" b="1" i="0" u="none" strike="noStrike" cap="none" dirty="0">
                <a:solidFill>
                  <a:schemeClr val="dk2"/>
                </a:solidFill>
                <a:latin typeface="Times New Roman"/>
                <a:ea typeface="Times New Roman"/>
                <a:cs typeface="Times New Roman"/>
                <a:sym typeface="Times New Roman"/>
              </a:rPr>
              <a:t> Kumar                                                                               Dr. Gurtej Kaur</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dk2"/>
                </a:solidFill>
                <a:latin typeface="Times New Roman"/>
                <a:ea typeface="Times New Roman"/>
                <a:cs typeface="Times New Roman"/>
                <a:sym typeface="Times New Roman"/>
              </a:rPr>
              <a:t>Designation</a:t>
            </a:r>
            <a:endParaRPr dirty="0"/>
          </a:p>
          <a:p>
            <a:pPr marL="0" marR="0" lvl="0" indent="0" algn="ctr" rtl="0">
              <a:lnSpc>
                <a:spcPct val="100000"/>
              </a:lnSpc>
              <a:spcBef>
                <a:spcPts val="0"/>
              </a:spcBef>
              <a:spcAft>
                <a:spcPts val="0"/>
              </a:spcAft>
              <a:buClr>
                <a:srgbClr val="000000"/>
              </a:buClr>
              <a:buSzPts val="1800"/>
              <a:buFont typeface="Arial"/>
              <a:buNone/>
            </a:pP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dk2"/>
                </a:solidFill>
                <a:latin typeface="Times New Roman"/>
                <a:ea typeface="Times New Roman"/>
                <a:cs typeface="Times New Roman"/>
                <a:sym typeface="Times New Roman"/>
              </a:rPr>
              <a:t>Department of Computer Science Engineering</a:t>
            </a:r>
            <a:endParaRPr sz="3200" b="1" i="0" u="none" strike="noStrike" cap="none" dirty="0">
              <a:solidFill>
                <a:schemeClr val="dk2"/>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3200"/>
              <a:buFont typeface="Arial"/>
              <a:buNone/>
            </a:pPr>
            <a:endParaRPr sz="3200" b="1" i="0" u="none" strike="noStrike" cap="none" dirty="0">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3200"/>
              <a:buFont typeface="Arial"/>
              <a:buNone/>
            </a:pPr>
            <a:endParaRPr sz="3200" b="1" i="0" u="none" strike="noStrike" cap="none" dirty="0">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4000"/>
              <a:buFont typeface="Arial"/>
              <a:buNone/>
            </a:pPr>
            <a:endParaRPr sz="4000" b="1" i="0" u="none" strike="noStrike" cap="none" dirty="0">
              <a:solidFill>
                <a:srgbClr val="FF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4000"/>
              <a:buFont typeface="Arial"/>
              <a:buNone/>
            </a:pPr>
            <a:endParaRPr sz="4000" b="1" i="0" u="none" strike="noStrike" cap="none" dirty="0">
              <a:solidFill>
                <a:schemeClr val="dk1"/>
              </a:solidFill>
              <a:latin typeface="Times New Roman"/>
              <a:ea typeface="Times New Roman"/>
              <a:cs typeface="Times New Roman"/>
              <a:sym typeface="Times New Roman"/>
            </a:endParaRPr>
          </a:p>
        </p:txBody>
      </p:sp>
      <p:sp>
        <p:nvSpPr>
          <p:cNvPr id="46" name="Google Shape;46;p1"/>
          <p:cNvSpPr txBox="1"/>
          <p:nvPr/>
        </p:nvSpPr>
        <p:spPr>
          <a:xfrm>
            <a:off x="1751196" y="971140"/>
            <a:ext cx="5355281"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en-US" sz="1800" b="1" i="0" u="none" strike="noStrike" cap="none">
                <a:solidFill>
                  <a:srgbClr val="002060"/>
                </a:solidFill>
                <a:latin typeface="Times New Roman"/>
                <a:ea typeface="Times New Roman"/>
                <a:cs typeface="Times New Roman"/>
                <a:sym typeface="Times New Roman"/>
              </a:rPr>
              <a:t>Backend Engineering Project </a:t>
            </a: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1" name="Google Shape;81;p6"/>
          <p:cNvSpPr txBox="1">
            <a:spLocks noGrp="1"/>
          </p:cNvSpPr>
          <p:nvPr>
            <p:ph type="body" idx="1"/>
          </p:nvPr>
        </p:nvSpPr>
        <p:spPr>
          <a:xfrm>
            <a:off x="353320" y="1186697"/>
            <a:ext cx="8437360" cy="5292048"/>
          </a:xfrm>
          <a:prstGeom prst="rect">
            <a:avLst/>
          </a:prstGeom>
          <a:noFill/>
          <a:ln>
            <a:noFill/>
          </a:ln>
        </p:spPr>
        <p:txBody>
          <a:bodyPr spcFirstLastPara="1" wrap="square" lIns="91425" tIns="45700" rIns="91425" bIns="45700" anchor="t" anchorCtr="0">
            <a:noAutofit/>
          </a:bodyPr>
          <a:lstStyle/>
          <a:p>
            <a:pPr marL="114300" indent="0" algn="ctr">
              <a:buNone/>
            </a:pPr>
            <a:r>
              <a:rPr lang="en-US" sz="2800" b="1" i="1" u="sng" dirty="0">
                <a:latin typeface="Times New Roman" panose="02020603050405020304" pitchFamily="18" charset="0"/>
                <a:cs typeface="Times New Roman" panose="02020603050405020304" pitchFamily="18" charset="0"/>
              </a:rPr>
              <a:t>Problem Statement</a:t>
            </a:r>
          </a:p>
          <a:p>
            <a:pPr marL="114300" indent="0" algn="just">
              <a:buNone/>
            </a:pPr>
            <a:endParaRPr lang="en-US" sz="2000" dirty="0">
              <a:latin typeface="Times New Roman" panose="02020603050405020304" pitchFamily="18" charset="0"/>
              <a:cs typeface="Times New Roman" panose="02020603050405020304" pitchFamily="18" charset="0"/>
            </a:endParaRPr>
          </a:p>
          <a:p>
            <a:pPr marL="114300" indent="0" algn="just">
              <a:buNone/>
            </a:pPr>
            <a:endParaRPr lang="en-US" sz="2000" dirty="0">
              <a:latin typeface="Times New Roman" panose="02020603050405020304" pitchFamily="18" charset="0"/>
              <a:cs typeface="Times New Roman" panose="02020603050405020304" pitchFamily="18" charset="0"/>
            </a:endParaRPr>
          </a:p>
          <a:p>
            <a:pPr marL="114300" indent="0" algn="just">
              <a:buNone/>
            </a:pPr>
            <a:r>
              <a:rPr lang="en-US" sz="2000" dirty="0">
                <a:latin typeface="Times New Roman" panose="02020603050405020304" pitchFamily="18" charset="0"/>
                <a:cs typeface="Times New Roman" panose="02020603050405020304" pitchFamily="18" charset="0"/>
              </a:rPr>
              <a:t>Mental health challenges such as stress, anxiety, and depression are on the rise globally, yet access to timely and affordable professional help remains limited. Traditional therapy is often expensive, stigmatized, and not available 24/7. Many individuals struggle without guidance, lack personalized support, and have no reliable way to track their emotional well-being in real time. There is a clear need for a secure, AI-powered solution that provides continuous emotional support, early detection of mental health issues, and immediate crisis intervention.</a:t>
            </a:r>
          </a:p>
        </p:txBody>
      </p:sp>
      <p:sp>
        <p:nvSpPr>
          <p:cNvPr id="82" name="Google Shape;82;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2"/>
          <p:cNvSpPr txBox="1">
            <a:spLocks noGrp="1"/>
          </p:cNvSpPr>
          <p:nvPr>
            <p:ph type="title"/>
          </p:nvPr>
        </p:nvSpPr>
        <p:spPr>
          <a:xfrm>
            <a:off x="1038525" y="0"/>
            <a:ext cx="5458500" cy="819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sz="3200" b="1" dirty="0">
                <a:solidFill>
                  <a:srgbClr val="0C0C0C"/>
                </a:solidFill>
                <a:latin typeface="Times New Roman"/>
                <a:ea typeface="Times New Roman"/>
                <a:cs typeface="Times New Roman"/>
                <a:sym typeface="Times New Roman"/>
              </a:rPr>
              <a:t>Introduction</a:t>
            </a:r>
            <a:endParaRPr sz="5000" b="1" dirty="0">
              <a:solidFill>
                <a:srgbClr val="0C0C0C"/>
              </a:solidFill>
              <a:latin typeface="Times New Roman"/>
              <a:ea typeface="Times New Roman"/>
              <a:cs typeface="Times New Roman"/>
              <a:sym typeface="Times New Roman"/>
            </a:endParaRPr>
          </a:p>
        </p:txBody>
      </p:sp>
      <p:sp>
        <p:nvSpPr>
          <p:cNvPr id="52" name="Google Shape;52;p2"/>
          <p:cNvSpPr txBox="1">
            <a:spLocks noGrp="1"/>
          </p:cNvSpPr>
          <p:nvPr>
            <p:ph type="body" idx="1"/>
          </p:nvPr>
        </p:nvSpPr>
        <p:spPr>
          <a:xfrm>
            <a:off x="164891" y="1064302"/>
            <a:ext cx="8844197" cy="5292048"/>
          </a:xfrm>
          <a:prstGeom prst="rect">
            <a:avLst/>
          </a:prstGeom>
          <a:noFill/>
          <a:ln>
            <a:noFill/>
          </a:ln>
        </p:spPr>
        <p:txBody>
          <a:bodyPr spcFirstLastPara="1" wrap="square" lIns="91425" tIns="45700" rIns="91425" bIns="45700" anchor="t" anchorCtr="0">
            <a:noAutofit/>
          </a:bodyPr>
          <a:lstStyle/>
          <a:p>
            <a:pPr marL="114300" lvl="0" indent="0" algn="ctr" rtl="0">
              <a:lnSpc>
                <a:spcPct val="100000"/>
              </a:lnSpc>
              <a:spcBef>
                <a:spcPts val="360"/>
              </a:spcBef>
              <a:spcAft>
                <a:spcPts val="0"/>
              </a:spcAft>
              <a:buSzPts val="1800"/>
              <a:buNone/>
            </a:pPr>
            <a:r>
              <a:rPr lang="en-US" sz="2800" b="1" i="1" u="sng" dirty="0">
                <a:latin typeface="Times New Roman" panose="02020603050405020304" pitchFamily="18" charset="0"/>
                <a:cs typeface="Times New Roman" panose="02020603050405020304" pitchFamily="18" charset="0"/>
              </a:rPr>
              <a:t>NeuroSync AI</a:t>
            </a:r>
          </a:p>
          <a:p>
            <a:pPr marL="114300" lvl="0" indent="0" algn="ctr" rtl="0">
              <a:lnSpc>
                <a:spcPct val="100000"/>
              </a:lnSpc>
              <a:spcBef>
                <a:spcPts val="360"/>
              </a:spcBef>
              <a:spcAft>
                <a:spcPts val="0"/>
              </a:spcAft>
              <a:buSzPts val="1800"/>
              <a:buNone/>
            </a:pPr>
            <a:r>
              <a:rPr lang="en-US" sz="2800" b="1" i="1" u="sng" dirty="0">
                <a:latin typeface="Times New Roman" panose="02020603050405020304" pitchFamily="18" charset="0"/>
                <a:cs typeface="Times New Roman" panose="02020603050405020304" pitchFamily="18" charset="0"/>
              </a:rPr>
              <a:t>(Mental Health Support App)</a:t>
            </a:r>
          </a:p>
          <a:p>
            <a:pPr marL="114300" lvl="0" indent="0" algn="ctr" rtl="0">
              <a:lnSpc>
                <a:spcPct val="100000"/>
              </a:lnSpc>
              <a:spcBef>
                <a:spcPts val="360"/>
              </a:spcBef>
              <a:spcAft>
                <a:spcPts val="0"/>
              </a:spcAft>
              <a:buSzPts val="1800"/>
              <a:buNone/>
            </a:pPr>
            <a:endParaRPr lang="en-US" sz="2400" b="1" i="1" u="sng" dirty="0">
              <a:latin typeface="Times New Roman" panose="02020603050405020304" pitchFamily="18" charset="0"/>
              <a:cs typeface="Times New Roman" panose="02020603050405020304" pitchFamily="18" charset="0"/>
            </a:endParaRPr>
          </a:p>
          <a:p>
            <a:pPr marL="114300" lvl="0" indent="0" algn="ctr" rtl="0">
              <a:lnSpc>
                <a:spcPct val="100000"/>
              </a:lnSpc>
              <a:spcBef>
                <a:spcPts val="360"/>
              </a:spcBef>
              <a:spcAft>
                <a:spcPts val="0"/>
              </a:spcAft>
              <a:buSzPts val="1800"/>
              <a:buNone/>
            </a:pPr>
            <a:endParaRPr sz="1600" dirty="0">
              <a:latin typeface="Times New Roman" panose="02020603050405020304" pitchFamily="18" charset="0"/>
              <a:cs typeface="Times New Roman" panose="02020603050405020304" pitchFamily="18" charset="0"/>
            </a:endParaRPr>
          </a:p>
          <a:p>
            <a:pPr marL="114300" lvl="0" indent="0" algn="just">
              <a:buNone/>
            </a:pPr>
            <a:r>
              <a:rPr lang="en-US" sz="2400" dirty="0">
                <a:latin typeface="Times New Roman" panose="02020603050405020304" pitchFamily="18" charset="0"/>
                <a:cs typeface="Times New Roman" panose="02020603050405020304" pitchFamily="18" charset="0"/>
              </a:rPr>
              <a:t>NeuroSync is an AI-powered mental health companion designed to provide personalized emotional support, real-time mood analysis, and 24/7 crisis intervention. Built with Next.js, Tailwind CSS, and integrated with advanced AI models, NeuroSync aims to bridge the gap between technology and mental well-being. It empowers individuals with secure, accessible, and responsive tools to track progress, receive guided therapy, and improve overall mental health.</a:t>
            </a:r>
            <a:endParaRPr sz="2400" dirty="0">
              <a:latin typeface="Times New Roman" panose="02020603050405020304" pitchFamily="18" charset="0"/>
              <a:ea typeface="Times New Roman"/>
              <a:cs typeface="Times New Roman" panose="02020603050405020304" pitchFamily="18" charset="0"/>
              <a:sym typeface="Times New Roman"/>
            </a:endParaRPr>
          </a:p>
        </p:txBody>
      </p:sp>
      <p:sp>
        <p:nvSpPr>
          <p:cNvPr id="53" name="Google Shape;53;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3"/>
          <p:cNvSpPr txBox="1">
            <a:spLocks noGrp="1"/>
          </p:cNvSpPr>
          <p:nvPr>
            <p:ph type="title"/>
          </p:nvPr>
        </p:nvSpPr>
        <p:spPr>
          <a:xfrm>
            <a:off x="0" y="0"/>
            <a:ext cx="4517700" cy="839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3200" b="1">
                <a:solidFill>
                  <a:srgbClr val="0C0C0C"/>
                </a:solidFill>
                <a:latin typeface="Times New Roman"/>
                <a:ea typeface="Times New Roman"/>
                <a:cs typeface="Times New Roman"/>
                <a:sym typeface="Times New Roman"/>
              </a:rPr>
              <a:t>Features</a:t>
            </a:r>
            <a:endParaRPr sz="4800" b="1">
              <a:solidFill>
                <a:srgbClr val="0C0C0C"/>
              </a:solidFill>
              <a:latin typeface="Times New Roman"/>
              <a:ea typeface="Times New Roman"/>
              <a:cs typeface="Times New Roman"/>
              <a:sym typeface="Times New Roman"/>
            </a:endParaRPr>
          </a:p>
        </p:txBody>
      </p:sp>
      <p:sp>
        <p:nvSpPr>
          <p:cNvPr id="59" name="Google Shape;59;p3"/>
          <p:cNvSpPr txBox="1">
            <a:spLocks noGrp="1"/>
          </p:cNvSpPr>
          <p:nvPr>
            <p:ph type="body" idx="1"/>
          </p:nvPr>
        </p:nvSpPr>
        <p:spPr>
          <a:xfrm>
            <a:off x="149841" y="1064352"/>
            <a:ext cx="8844300" cy="5292000"/>
          </a:xfrm>
          <a:prstGeom prst="rect">
            <a:avLst/>
          </a:prstGeom>
          <a:noFill/>
          <a:ln>
            <a:noFill/>
          </a:ln>
        </p:spPr>
        <p:txBody>
          <a:bodyPr spcFirstLastPara="1" wrap="square" lIns="91425" tIns="45700" rIns="91425" bIns="45700" anchor="t" anchorCtr="0">
            <a:noAutofit/>
          </a:bodyPr>
          <a:lstStyle/>
          <a:p>
            <a:pPr marL="114300" lvl="0" indent="0" algn="ctr" rtl="0">
              <a:lnSpc>
                <a:spcPct val="100000"/>
              </a:lnSpc>
              <a:spcBef>
                <a:spcPts val="360"/>
              </a:spcBef>
              <a:spcAft>
                <a:spcPts val="0"/>
              </a:spcAft>
              <a:buSzPts val="1800"/>
              <a:buNone/>
            </a:pPr>
            <a:r>
              <a:rPr lang="en-IN" sz="2400" b="1" i="1" u="sng" dirty="0">
                <a:latin typeface="Times New Roman" panose="02020603050405020304" pitchFamily="18" charset="0"/>
                <a:cs typeface="Times New Roman" panose="02020603050405020304" pitchFamily="18" charset="0"/>
              </a:rPr>
              <a:t>User-Centric Features</a:t>
            </a:r>
          </a:p>
          <a:p>
            <a:pPr marL="114300" lvl="0" indent="0" algn="ctr" rtl="0">
              <a:lnSpc>
                <a:spcPct val="100000"/>
              </a:lnSpc>
              <a:spcBef>
                <a:spcPts val="360"/>
              </a:spcBef>
              <a:spcAft>
                <a:spcPts val="0"/>
              </a:spcAft>
              <a:buSzPts val="1800"/>
              <a:buNone/>
            </a:pPr>
            <a:endParaRPr lang="en-IN" sz="1800" b="1" dirty="0">
              <a:latin typeface="Times New Roman" panose="02020603050405020304" pitchFamily="18" charset="0"/>
              <a:cs typeface="Times New Roman" panose="02020603050405020304" pitchFamily="18" charset="0"/>
            </a:endParaRPr>
          </a:p>
          <a:p>
            <a:pPr>
              <a:lnSpc>
                <a:spcPct val="150000"/>
              </a:lnSpc>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AI Therapy Chat</a:t>
            </a:r>
            <a:r>
              <a:rPr lang="en-IN" sz="2000" dirty="0">
                <a:latin typeface="Times New Roman" panose="02020603050405020304" pitchFamily="18" charset="0"/>
                <a:cs typeface="Times New Roman" panose="02020603050405020304" pitchFamily="18" charset="0"/>
              </a:rPr>
              <a:t> – Empathetic conversations powered by LLAMA 3</a:t>
            </a:r>
          </a:p>
          <a:p>
            <a:pPr>
              <a:lnSpc>
                <a:spcPct val="150000"/>
              </a:lnSpc>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Real-time Emotion Analysis</a:t>
            </a:r>
            <a:r>
              <a:rPr lang="en-IN" sz="2000" dirty="0">
                <a:latin typeface="Times New Roman" panose="02020603050405020304" pitchFamily="18" charset="0"/>
                <a:cs typeface="Times New Roman" panose="02020603050405020304" pitchFamily="18" charset="0"/>
              </a:rPr>
              <a:t> – Detects and understands user mood instantly</a:t>
            </a:r>
          </a:p>
          <a:p>
            <a:pPr>
              <a:lnSpc>
                <a:spcPct val="150000"/>
              </a:lnSpc>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24/7 Crisis Support</a:t>
            </a:r>
            <a:r>
              <a:rPr lang="en-IN" sz="2000" dirty="0">
                <a:latin typeface="Times New Roman" panose="02020603050405020304" pitchFamily="18" charset="0"/>
                <a:cs typeface="Times New Roman" panose="02020603050405020304" pitchFamily="18" charset="0"/>
              </a:rPr>
              <a:t> – Immediate assistance in high-risk situations</a:t>
            </a:r>
          </a:p>
          <a:p>
            <a:pPr>
              <a:lnSpc>
                <a:spcPct val="150000"/>
              </a:lnSpc>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Personalized Mental Health Guidance</a:t>
            </a:r>
            <a:r>
              <a:rPr lang="en-IN" sz="2000" dirty="0">
                <a:latin typeface="Times New Roman" panose="02020603050405020304" pitchFamily="18" charset="0"/>
                <a:cs typeface="Times New Roman" panose="02020603050405020304" pitchFamily="18" charset="0"/>
              </a:rPr>
              <a:t> – Tailored advice and coping strategies</a:t>
            </a:r>
          </a:p>
          <a:p>
            <a:pPr>
              <a:lnSpc>
                <a:spcPct val="150000"/>
              </a:lnSpc>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Progress Tracking</a:t>
            </a:r>
            <a:r>
              <a:rPr lang="en-IN" sz="2000" dirty="0">
                <a:latin typeface="Times New Roman" panose="02020603050405020304" pitchFamily="18" charset="0"/>
                <a:cs typeface="Times New Roman" panose="02020603050405020304" pitchFamily="18" charset="0"/>
              </a:rPr>
              <a:t> – Monitors emotional growth and mental health journey</a:t>
            </a:r>
          </a:p>
          <a:p>
            <a:pPr>
              <a:lnSpc>
                <a:spcPct val="150000"/>
              </a:lnSpc>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Responsive Design with Dark Mode</a:t>
            </a:r>
            <a:r>
              <a:rPr lang="en-IN" sz="2000" dirty="0">
                <a:latin typeface="Times New Roman" panose="02020603050405020304" pitchFamily="18" charset="0"/>
                <a:cs typeface="Times New Roman" panose="02020603050405020304" pitchFamily="18" charset="0"/>
              </a:rPr>
              <a:t> – Seamless experience across all devices</a:t>
            </a:r>
          </a:p>
          <a:p>
            <a:pPr marL="114300" lvl="0" indent="0" algn="just" rtl="0">
              <a:lnSpc>
                <a:spcPct val="100000"/>
              </a:lnSpc>
              <a:spcBef>
                <a:spcPts val="360"/>
              </a:spcBef>
              <a:spcAft>
                <a:spcPts val="0"/>
              </a:spcAft>
              <a:buSzPts val="1800"/>
              <a:buNone/>
            </a:pPr>
            <a:endParaRPr sz="2400" dirty="0">
              <a:latin typeface="Times New Roman" panose="02020603050405020304" pitchFamily="18" charset="0"/>
              <a:ea typeface="Times New Roman"/>
              <a:cs typeface="Times New Roman" panose="02020603050405020304" pitchFamily="18" charset="0"/>
              <a:sym typeface="Times New Roman"/>
            </a:endParaRPr>
          </a:p>
          <a:p>
            <a:pPr marL="114300" lvl="0" indent="0" algn="ctr" rtl="0">
              <a:lnSpc>
                <a:spcPct val="100000"/>
              </a:lnSpc>
              <a:spcBef>
                <a:spcPts val="360"/>
              </a:spcBef>
              <a:spcAft>
                <a:spcPts val="0"/>
              </a:spcAft>
              <a:buSzPts val="1800"/>
              <a:buNone/>
            </a:pPr>
            <a:endParaRPr dirty="0">
              <a:latin typeface="Times New Roman" panose="02020603050405020304" pitchFamily="18" charset="0"/>
              <a:ea typeface="Times New Roman"/>
              <a:cs typeface="Times New Roman" panose="02020603050405020304" pitchFamily="18" charset="0"/>
              <a:sym typeface="Times New Roman"/>
            </a:endParaRPr>
          </a:p>
          <a:p>
            <a:pPr marL="114300" lvl="0" indent="0" algn="ctr" rtl="0">
              <a:lnSpc>
                <a:spcPct val="100000"/>
              </a:lnSpc>
              <a:spcBef>
                <a:spcPts val="360"/>
              </a:spcBef>
              <a:spcAft>
                <a:spcPts val="0"/>
              </a:spcAft>
              <a:buSzPts val="1800"/>
              <a:buNone/>
            </a:pPr>
            <a:endParaRPr dirty="0">
              <a:latin typeface="Times New Roman" panose="02020603050405020304" pitchFamily="18" charset="0"/>
              <a:ea typeface="Times New Roman"/>
              <a:cs typeface="Times New Roman" panose="02020603050405020304" pitchFamily="18" charset="0"/>
              <a:sym typeface="Times New Roman"/>
            </a:endParaRPr>
          </a:p>
        </p:txBody>
      </p:sp>
      <p:sp>
        <p:nvSpPr>
          <p:cNvPr id="60" name="Google Shape;6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4"/>
          <p:cNvSpPr txBox="1">
            <a:spLocks noGrp="1"/>
          </p:cNvSpPr>
          <p:nvPr>
            <p:ph type="title"/>
          </p:nvPr>
        </p:nvSpPr>
        <p:spPr>
          <a:xfrm>
            <a:off x="0" y="0"/>
            <a:ext cx="4657500" cy="839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3200" b="1" dirty="0">
                <a:solidFill>
                  <a:srgbClr val="0C0C0C"/>
                </a:solidFill>
                <a:latin typeface="Times New Roman"/>
                <a:ea typeface="Times New Roman"/>
                <a:cs typeface="Times New Roman"/>
                <a:sym typeface="Times New Roman"/>
              </a:rPr>
              <a:t>Features</a:t>
            </a:r>
            <a:endParaRPr sz="4800" b="1" dirty="0">
              <a:solidFill>
                <a:srgbClr val="0C0C0C"/>
              </a:solidFill>
              <a:latin typeface="Times New Roman"/>
              <a:ea typeface="Times New Roman"/>
              <a:cs typeface="Times New Roman"/>
              <a:sym typeface="Times New Roman"/>
            </a:endParaRPr>
          </a:p>
        </p:txBody>
      </p:sp>
      <p:sp>
        <p:nvSpPr>
          <p:cNvPr id="66" name="Google Shape;66;p4"/>
          <p:cNvSpPr txBox="1">
            <a:spLocks noGrp="1"/>
          </p:cNvSpPr>
          <p:nvPr>
            <p:ph type="body" idx="1"/>
          </p:nvPr>
        </p:nvSpPr>
        <p:spPr>
          <a:xfrm>
            <a:off x="149901" y="915215"/>
            <a:ext cx="8844197" cy="5292048"/>
          </a:xfrm>
          <a:prstGeom prst="rect">
            <a:avLst/>
          </a:prstGeom>
          <a:noFill/>
          <a:ln>
            <a:noFill/>
          </a:ln>
        </p:spPr>
        <p:txBody>
          <a:bodyPr spcFirstLastPara="1" wrap="square" lIns="91425" tIns="45700" rIns="91425" bIns="45700" anchor="t" anchorCtr="0">
            <a:noAutofit/>
          </a:bodyPr>
          <a:lstStyle/>
          <a:p>
            <a:pPr marL="114300" indent="0" algn="ctr">
              <a:buNone/>
            </a:pPr>
            <a:r>
              <a:rPr lang="en-IN" sz="2400" b="1" i="1" u="sng" dirty="0">
                <a:latin typeface="Times New Roman" panose="02020603050405020304" pitchFamily="18" charset="0"/>
                <a:cs typeface="Times New Roman" panose="02020603050405020304" pitchFamily="18" charset="0"/>
              </a:rPr>
              <a:t>Technical Features</a:t>
            </a:r>
          </a:p>
          <a:p>
            <a:pPr marL="114300" indent="0">
              <a:buNone/>
            </a:pPr>
            <a:endParaRPr lang="en-IN" sz="2000" b="1" dirty="0">
              <a:latin typeface="Times New Roman" panose="02020603050405020304" pitchFamily="18" charset="0"/>
              <a:cs typeface="Times New Roman" panose="02020603050405020304" pitchFamily="18" charset="0"/>
            </a:endParaRPr>
          </a:p>
          <a:p>
            <a:pPr>
              <a:lnSpc>
                <a:spcPct val="150000"/>
              </a:lnSpc>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Secure User Authentication</a:t>
            </a:r>
            <a:r>
              <a:rPr lang="en-IN" sz="2000" dirty="0">
                <a:latin typeface="Times New Roman" panose="02020603050405020304" pitchFamily="18" charset="0"/>
                <a:cs typeface="Times New Roman" panose="02020603050405020304" pitchFamily="18" charset="0"/>
              </a:rPr>
              <a:t> – JWT-based login &amp; bcrypt password hashing</a:t>
            </a:r>
          </a:p>
          <a:p>
            <a:pPr>
              <a:lnSpc>
                <a:spcPct val="150000"/>
              </a:lnSpc>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MongoDB Database Integration</a:t>
            </a:r>
            <a:r>
              <a:rPr lang="en-IN" sz="2000" dirty="0">
                <a:latin typeface="Times New Roman" panose="02020603050405020304" pitchFamily="18" charset="0"/>
                <a:cs typeface="Times New Roman" panose="02020603050405020304" pitchFamily="18" charset="0"/>
              </a:rPr>
              <a:t> – Reliable storage for user data and insights</a:t>
            </a:r>
          </a:p>
          <a:p>
            <a:pPr>
              <a:lnSpc>
                <a:spcPct val="150000"/>
              </a:lnSpc>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Next.js Performance Optimization</a:t>
            </a:r>
            <a:r>
              <a:rPr lang="en-IN" sz="2000" dirty="0">
                <a:latin typeface="Times New Roman" panose="02020603050405020304" pitchFamily="18" charset="0"/>
                <a:cs typeface="Times New Roman" panose="02020603050405020304" pitchFamily="18" charset="0"/>
              </a:rPr>
              <a:t> – Fast and scalable frontend framework</a:t>
            </a:r>
          </a:p>
          <a:p>
            <a:pPr>
              <a:lnSpc>
                <a:spcPct val="150000"/>
              </a:lnSpc>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Tailwind CSS Styling</a:t>
            </a:r>
            <a:r>
              <a:rPr lang="en-IN" sz="2000" dirty="0">
                <a:latin typeface="Times New Roman" panose="02020603050405020304" pitchFamily="18" charset="0"/>
                <a:cs typeface="Times New Roman" panose="02020603050405020304" pitchFamily="18" charset="0"/>
              </a:rPr>
              <a:t> – Clean, modern, and responsive UI design</a:t>
            </a:r>
          </a:p>
          <a:p>
            <a:pPr>
              <a:lnSpc>
                <a:spcPct val="150000"/>
              </a:lnSpc>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AI Integration</a:t>
            </a:r>
            <a:r>
              <a:rPr lang="en-IN" sz="2000" dirty="0">
                <a:latin typeface="Times New Roman" panose="02020603050405020304" pitchFamily="18" charset="0"/>
                <a:cs typeface="Times New Roman" panose="02020603050405020304" pitchFamily="18" charset="0"/>
              </a:rPr>
              <a:t> – LLAMA 3 for chat + custom emotion detection algorithms</a:t>
            </a:r>
          </a:p>
        </p:txBody>
      </p:sp>
      <p:sp>
        <p:nvSpPr>
          <p:cNvPr id="67" name="Google Shape;67;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5"/>
          <p:cNvSpPr txBox="1">
            <a:spLocks noGrp="1"/>
          </p:cNvSpPr>
          <p:nvPr>
            <p:ph type="title"/>
          </p:nvPr>
        </p:nvSpPr>
        <p:spPr>
          <a:xfrm>
            <a:off x="0" y="0"/>
            <a:ext cx="5991149" cy="839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3200" b="1" dirty="0">
                <a:solidFill>
                  <a:srgbClr val="0C0C0C"/>
                </a:solidFill>
                <a:latin typeface="Times New Roman"/>
                <a:ea typeface="Times New Roman"/>
                <a:cs typeface="Times New Roman"/>
                <a:sym typeface="Times New Roman"/>
              </a:rPr>
              <a:t>Tech Stack</a:t>
            </a:r>
            <a:endParaRPr sz="4800" b="1" dirty="0">
              <a:solidFill>
                <a:srgbClr val="0C0C0C"/>
              </a:solidFill>
              <a:latin typeface="Times New Roman"/>
              <a:ea typeface="Times New Roman"/>
              <a:cs typeface="Times New Roman"/>
              <a:sym typeface="Times New Roman"/>
            </a:endParaRPr>
          </a:p>
        </p:txBody>
      </p:sp>
      <p:sp>
        <p:nvSpPr>
          <p:cNvPr id="73" name="Google Shape;73;p5"/>
          <p:cNvSpPr txBox="1">
            <a:spLocks noGrp="1"/>
          </p:cNvSpPr>
          <p:nvPr>
            <p:ph type="body" idx="1"/>
          </p:nvPr>
        </p:nvSpPr>
        <p:spPr>
          <a:xfrm>
            <a:off x="164891" y="1064302"/>
            <a:ext cx="8844197" cy="5292048"/>
          </a:xfrm>
          <a:prstGeom prst="rect">
            <a:avLst/>
          </a:prstGeom>
          <a:noFill/>
          <a:ln>
            <a:noFill/>
          </a:ln>
        </p:spPr>
        <p:txBody>
          <a:bodyPr spcFirstLastPara="1" wrap="square" lIns="91425" tIns="45700" rIns="91425" bIns="45700" anchor="t" anchorCtr="0">
            <a:noAutofit/>
          </a:bodyPr>
          <a:lstStyle/>
          <a:p>
            <a:pPr marL="114300" lvl="0" indent="0" algn="ctr" rtl="0">
              <a:lnSpc>
                <a:spcPct val="100000"/>
              </a:lnSpc>
              <a:spcBef>
                <a:spcPts val="360"/>
              </a:spcBef>
              <a:spcAft>
                <a:spcPts val="0"/>
              </a:spcAft>
              <a:buSzPts val="1800"/>
              <a:buNone/>
            </a:pPr>
            <a:endParaRPr sz="2800" dirty="0">
              <a:latin typeface="Times New Roman" panose="02020603050405020304" pitchFamily="18" charset="0"/>
              <a:ea typeface="Times New Roman"/>
              <a:cs typeface="Times New Roman" panose="02020603050405020304" pitchFamily="18" charset="0"/>
              <a:sym typeface="Times New Roman"/>
            </a:endParaRPr>
          </a:p>
          <a:p>
            <a:pPr marL="114300" indent="0">
              <a:buNone/>
            </a:pPr>
            <a:r>
              <a:rPr lang="en-IN" sz="2000" b="1" u="sng" dirty="0">
                <a:latin typeface="Times New Roman" panose="02020603050405020304" pitchFamily="18" charset="0"/>
                <a:cs typeface="Times New Roman" panose="02020603050405020304" pitchFamily="18" charset="0"/>
              </a:rPr>
              <a:t>Frontend</a:t>
            </a:r>
          </a:p>
          <a:p>
            <a:r>
              <a:rPr lang="en-IN" sz="2000" b="1" dirty="0">
                <a:latin typeface="Times New Roman" panose="02020603050405020304" pitchFamily="18" charset="0"/>
                <a:cs typeface="Times New Roman" panose="02020603050405020304" pitchFamily="18" charset="0"/>
              </a:rPr>
              <a:t>Next.js</a:t>
            </a:r>
            <a:r>
              <a:rPr lang="en-IN" sz="2000" dirty="0">
                <a:latin typeface="Times New Roman" panose="02020603050405020304" pitchFamily="18" charset="0"/>
                <a:cs typeface="Times New Roman" panose="02020603050405020304" pitchFamily="18" charset="0"/>
              </a:rPr>
              <a:t> – React-based framework for server-side rendering &amp; routing</a:t>
            </a:r>
          </a:p>
          <a:p>
            <a:r>
              <a:rPr lang="en-IN" sz="2000" b="1" dirty="0">
                <a:latin typeface="Times New Roman" panose="02020603050405020304" pitchFamily="18" charset="0"/>
                <a:cs typeface="Times New Roman" panose="02020603050405020304" pitchFamily="18" charset="0"/>
              </a:rPr>
              <a:t>React</a:t>
            </a:r>
            <a:r>
              <a:rPr lang="en-IN" sz="2000" dirty="0">
                <a:latin typeface="Times New Roman" panose="02020603050405020304" pitchFamily="18" charset="0"/>
                <a:cs typeface="Times New Roman" panose="02020603050405020304" pitchFamily="18" charset="0"/>
              </a:rPr>
              <a:t> – Component-based UI development</a:t>
            </a:r>
          </a:p>
          <a:p>
            <a:r>
              <a:rPr lang="en-IN" sz="2000" b="1" dirty="0">
                <a:latin typeface="Times New Roman" panose="02020603050405020304" pitchFamily="18" charset="0"/>
                <a:cs typeface="Times New Roman" panose="02020603050405020304" pitchFamily="18" charset="0"/>
              </a:rPr>
              <a:t>Tailwind CSS</a:t>
            </a:r>
            <a:r>
              <a:rPr lang="en-IN" sz="2000" dirty="0">
                <a:latin typeface="Times New Roman" panose="02020603050405020304" pitchFamily="18" charset="0"/>
                <a:cs typeface="Times New Roman" panose="02020603050405020304" pitchFamily="18" charset="0"/>
              </a:rPr>
              <a:t> – Utility-first CSS framework for responsive design</a:t>
            </a:r>
          </a:p>
          <a:p>
            <a:r>
              <a:rPr lang="en-IN" sz="2000" b="1" dirty="0">
                <a:latin typeface="Times New Roman" panose="02020603050405020304" pitchFamily="18" charset="0"/>
                <a:cs typeface="Times New Roman" panose="02020603050405020304" pitchFamily="18" charset="0"/>
              </a:rPr>
              <a:t>Next.js Image Optimization</a:t>
            </a:r>
            <a:r>
              <a:rPr lang="en-IN" sz="2000" dirty="0">
                <a:latin typeface="Times New Roman" panose="02020603050405020304" pitchFamily="18" charset="0"/>
                <a:cs typeface="Times New Roman" panose="02020603050405020304" pitchFamily="18" charset="0"/>
              </a:rPr>
              <a:t> – Efficient media handling</a:t>
            </a:r>
          </a:p>
          <a:p>
            <a:br>
              <a:rPr lang="en-IN" sz="2000" dirty="0">
                <a:latin typeface="Times New Roman" panose="02020603050405020304" pitchFamily="18" charset="0"/>
                <a:cs typeface="Times New Roman" panose="02020603050405020304" pitchFamily="18" charset="0"/>
              </a:rPr>
            </a:br>
            <a:endParaRPr lang="en-IN" sz="2000" u="sng" dirty="0">
              <a:latin typeface="Times New Roman" panose="02020603050405020304" pitchFamily="18" charset="0"/>
              <a:cs typeface="Times New Roman" panose="02020603050405020304" pitchFamily="18" charset="0"/>
            </a:endParaRPr>
          </a:p>
          <a:p>
            <a:pPr marL="114300" indent="0">
              <a:buNone/>
            </a:pPr>
            <a:r>
              <a:rPr lang="en-IN" sz="2000" b="1" u="sng" dirty="0">
                <a:latin typeface="Times New Roman" panose="02020603050405020304" pitchFamily="18" charset="0"/>
                <a:cs typeface="Times New Roman" panose="02020603050405020304" pitchFamily="18" charset="0"/>
              </a:rPr>
              <a:t>Backend</a:t>
            </a:r>
          </a:p>
          <a:p>
            <a:r>
              <a:rPr lang="en-IN" sz="2000" b="1" dirty="0">
                <a:latin typeface="Times New Roman" panose="02020603050405020304" pitchFamily="18" charset="0"/>
                <a:cs typeface="Times New Roman" panose="02020603050405020304" pitchFamily="18" charset="0"/>
              </a:rPr>
              <a:t>Node.js</a:t>
            </a:r>
            <a:r>
              <a:rPr lang="en-IN" sz="2000" dirty="0">
                <a:latin typeface="Times New Roman" panose="02020603050405020304" pitchFamily="18" charset="0"/>
                <a:cs typeface="Times New Roman" panose="02020603050405020304" pitchFamily="18" charset="0"/>
              </a:rPr>
              <a:t> – Runtime environment for server-side logic</a:t>
            </a:r>
          </a:p>
          <a:p>
            <a:r>
              <a:rPr lang="en-IN" sz="2000" b="1" dirty="0">
                <a:latin typeface="Times New Roman" panose="02020603050405020304" pitchFamily="18" charset="0"/>
                <a:cs typeface="Times New Roman" panose="02020603050405020304" pitchFamily="18" charset="0"/>
              </a:rPr>
              <a:t>Express.js (via Next.js API routes)</a:t>
            </a:r>
            <a:r>
              <a:rPr lang="en-IN" sz="2000" dirty="0">
                <a:latin typeface="Times New Roman" panose="02020603050405020304" pitchFamily="18" charset="0"/>
                <a:cs typeface="Times New Roman" panose="02020603050405020304" pitchFamily="18" charset="0"/>
              </a:rPr>
              <a:t> – Handling APIs &amp; middleware</a:t>
            </a:r>
          </a:p>
          <a:p>
            <a:r>
              <a:rPr lang="en-IN" sz="2000" b="1" dirty="0">
                <a:latin typeface="Times New Roman" panose="02020603050405020304" pitchFamily="18" charset="0"/>
                <a:cs typeface="Times New Roman" panose="02020603050405020304" pitchFamily="18" charset="0"/>
              </a:rPr>
              <a:t>MongoDB</a:t>
            </a:r>
            <a:r>
              <a:rPr lang="en-IN" sz="2000" dirty="0">
                <a:latin typeface="Times New Roman" panose="02020603050405020304" pitchFamily="18" charset="0"/>
                <a:cs typeface="Times New Roman" panose="02020603050405020304" pitchFamily="18" charset="0"/>
              </a:rPr>
              <a:t> – NoSQL database for storing user data</a:t>
            </a:r>
          </a:p>
          <a:p>
            <a:r>
              <a:rPr lang="en-IN" sz="2000" b="1" dirty="0">
                <a:latin typeface="Times New Roman" panose="02020603050405020304" pitchFamily="18" charset="0"/>
                <a:cs typeface="Times New Roman" panose="02020603050405020304" pitchFamily="18" charset="0"/>
              </a:rPr>
              <a:t>Mongoose</a:t>
            </a:r>
            <a:r>
              <a:rPr lang="en-IN" sz="2000" dirty="0">
                <a:latin typeface="Times New Roman" panose="02020603050405020304" pitchFamily="18" charset="0"/>
                <a:cs typeface="Times New Roman" panose="02020603050405020304" pitchFamily="18" charset="0"/>
              </a:rPr>
              <a:t> – ODM for MongoDB schema and queries</a:t>
            </a:r>
          </a:p>
          <a:p>
            <a:pPr marL="114300" lvl="0" indent="0" algn="just" rtl="0">
              <a:lnSpc>
                <a:spcPct val="100000"/>
              </a:lnSpc>
              <a:spcBef>
                <a:spcPts val="360"/>
              </a:spcBef>
              <a:spcAft>
                <a:spcPts val="0"/>
              </a:spcAft>
              <a:buSzPts val="1800"/>
              <a:buNone/>
            </a:pPr>
            <a:endParaRPr sz="2000" dirty="0">
              <a:latin typeface="Times New Roman" panose="02020603050405020304" pitchFamily="18" charset="0"/>
              <a:ea typeface="Times New Roman"/>
              <a:cs typeface="Times New Roman" panose="02020603050405020304" pitchFamily="18" charset="0"/>
              <a:sym typeface="Times New Roman"/>
            </a:endParaRPr>
          </a:p>
        </p:txBody>
      </p:sp>
      <p:sp>
        <p:nvSpPr>
          <p:cNvPr id="74" name="Google Shape;74;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DA419F36-887A-2FBD-1504-2AA062BBB42A}"/>
            </a:ext>
          </a:extLst>
        </p:cNvPr>
        <p:cNvGrpSpPr/>
        <p:nvPr/>
      </p:nvGrpSpPr>
      <p:grpSpPr>
        <a:xfrm>
          <a:off x="0" y="0"/>
          <a:ext cx="0" cy="0"/>
          <a:chOff x="0" y="0"/>
          <a:chExt cx="0" cy="0"/>
        </a:xfrm>
      </p:grpSpPr>
      <p:sp>
        <p:nvSpPr>
          <p:cNvPr id="72" name="Google Shape;72;p5">
            <a:extLst>
              <a:ext uri="{FF2B5EF4-FFF2-40B4-BE49-F238E27FC236}">
                <a16:creationId xmlns:a16="http://schemas.microsoft.com/office/drawing/2014/main" id="{054B52DF-600A-4AC9-18D5-B3A11931490A}"/>
              </a:ext>
            </a:extLst>
          </p:cNvPr>
          <p:cNvSpPr txBox="1">
            <a:spLocks noGrp="1"/>
          </p:cNvSpPr>
          <p:nvPr>
            <p:ph type="title"/>
          </p:nvPr>
        </p:nvSpPr>
        <p:spPr>
          <a:xfrm>
            <a:off x="0" y="0"/>
            <a:ext cx="5991149" cy="839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3200" b="1" dirty="0">
                <a:solidFill>
                  <a:srgbClr val="0C0C0C"/>
                </a:solidFill>
                <a:latin typeface="Times New Roman"/>
                <a:ea typeface="Times New Roman"/>
                <a:cs typeface="Times New Roman"/>
                <a:sym typeface="Times New Roman"/>
              </a:rPr>
              <a:t>Tech Stack</a:t>
            </a:r>
            <a:endParaRPr sz="4800" b="1" dirty="0">
              <a:solidFill>
                <a:srgbClr val="0C0C0C"/>
              </a:solidFill>
              <a:latin typeface="Times New Roman"/>
              <a:ea typeface="Times New Roman"/>
              <a:cs typeface="Times New Roman"/>
              <a:sym typeface="Times New Roman"/>
            </a:endParaRPr>
          </a:p>
        </p:txBody>
      </p:sp>
      <p:sp>
        <p:nvSpPr>
          <p:cNvPr id="73" name="Google Shape;73;p5">
            <a:extLst>
              <a:ext uri="{FF2B5EF4-FFF2-40B4-BE49-F238E27FC236}">
                <a16:creationId xmlns:a16="http://schemas.microsoft.com/office/drawing/2014/main" id="{4B847B69-CAC4-2BF8-F65F-EBBC45BDD899}"/>
              </a:ext>
            </a:extLst>
          </p:cNvPr>
          <p:cNvSpPr txBox="1">
            <a:spLocks noGrp="1"/>
          </p:cNvSpPr>
          <p:nvPr>
            <p:ph type="body" idx="1"/>
          </p:nvPr>
        </p:nvSpPr>
        <p:spPr>
          <a:xfrm>
            <a:off x="164891" y="1064302"/>
            <a:ext cx="8844197" cy="5292048"/>
          </a:xfrm>
          <a:prstGeom prst="rect">
            <a:avLst/>
          </a:prstGeom>
          <a:noFill/>
          <a:ln>
            <a:noFill/>
          </a:ln>
        </p:spPr>
        <p:txBody>
          <a:bodyPr spcFirstLastPara="1" wrap="square" lIns="91425" tIns="45700" rIns="91425" bIns="45700" anchor="t" anchorCtr="0">
            <a:noAutofit/>
          </a:bodyPr>
          <a:lstStyle/>
          <a:p>
            <a:pPr marL="114300" lvl="0" indent="0" algn="ctr" rtl="0">
              <a:lnSpc>
                <a:spcPct val="100000"/>
              </a:lnSpc>
              <a:spcBef>
                <a:spcPts val="360"/>
              </a:spcBef>
              <a:spcAft>
                <a:spcPts val="0"/>
              </a:spcAft>
              <a:buSzPts val="1800"/>
              <a:buNone/>
            </a:pPr>
            <a:endParaRPr sz="2400" dirty="0">
              <a:latin typeface="Times New Roman" panose="02020603050405020304" pitchFamily="18" charset="0"/>
              <a:ea typeface="Times New Roman"/>
              <a:cs typeface="Times New Roman" panose="02020603050405020304" pitchFamily="18" charset="0"/>
              <a:sym typeface="Times New Roman"/>
            </a:endParaRPr>
          </a:p>
          <a:p>
            <a:pPr marL="114300" indent="0">
              <a:buNone/>
            </a:pPr>
            <a:r>
              <a:rPr lang="en-IN" sz="1800" b="1" dirty="0">
                <a:latin typeface="Times New Roman" panose="02020603050405020304" pitchFamily="18" charset="0"/>
                <a:cs typeface="Times New Roman" panose="02020603050405020304" pitchFamily="18" charset="0"/>
              </a:rPr>
              <a:t>Authentication &amp; Security</a:t>
            </a:r>
          </a:p>
          <a:p>
            <a:r>
              <a:rPr lang="en-IN" sz="1800" b="1" dirty="0">
                <a:latin typeface="Times New Roman" panose="02020603050405020304" pitchFamily="18" charset="0"/>
                <a:cs typeface="Times New Roman" panose="02020603050405020304" pitchFamily="18" charset="0"/>
              </a:rPr>
              <a:t>JWT (JSON Web Tokens)</a:t>
            </a:r>
            <a:r>
              <a:rPr lang="en-IN" sz="1800" dirty="0">
                <a:latin typeface="Times New Roman" panose="02020603050405020304" pitchFamily="18" charset="0"/>
                <a:cs typeface="Times New Roman" panose="02020603050405020304" pitchFamily="18" charset="0"/>
              </a:rPr>
              <a:t> – User authentication &amp; session management</a:t>
            </a:r>
          </a:p>
          <a:p>
            <a:r>
              <a:rPr lang="en-IN" sz="1800" b="1" dirty="0">
                <a:latin typeface="Times New Roman" panose="02020603050405020304" pitchFamily="18" charset="0"/>
                <a:cs typeface="Times New Roman" panose="02020603050405020304" pitchFamily="18" charset="0"/>
              </a:rPr>
              <a:t>bcrypt</a:t>
            </a:r>
            <a:r>
              <a:rPr lang="en-IN" sz="1800" dirty="0">
                <a:latin typeface="Times New Roman" panose="02020603050405020304" pitchFamily="18" charset="0"/>
                <a:cs typeface="Times New Roman" panose="02020603050405020304" pitchFamily="18" charset="0"/>
              </a:rPr>
              <a:t> – Password hashing for secure login</a:t>
            </a:r>
          </a:p>
          <a:p>
            <a:r>
              <a:rPr lang="en-IN" sz="1800" b="1" dirty="0">
                <a:latin typeface="Times New Roman" panose="02020603050405020304" pitchFamily="18" charset="0"/>
                <a:cs typeface="Times New Roman" panose="02020603050405020304" pitchFamily="18" charset="0"/>
              </a:rPr>
              <a:t>Environment Variables</a:t>
            </a:r>
            <a:r>
              <a:rPr lang="en-IN" sz="1800" dirty="0">
                <a:latin typeface="Times New Roman" panose="02020603050405020304" pitchFamily="18" charset="0"/>
                <a:cs typeface="Times New Roman" panose="02020603050405020304" pitchFamily="18" charset="0"/>
              </a:rPr>
              <a:t> – Secure storage of sensitive credentials</a:t>
            </a:r>
          </a:p>
          <a:p>
            <a:pPr marL="114300" indent="0">
              <a:buNone/>
            </a:pPr>
            <a:br>
              <a:rPr lang="en-IN"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a:p>
            <a:pPr marL="114300" indent="0">
              <a:buNone/>
            </a:pPr>
            <a:r>
              <a:rPr lang="en-IN" sz="1800" b="1" dirty="0">
                <a:latin typeface="Times New Roman" panose="02020603050405020304" pitchFamily="18" charset="0"/>
                <a:cs typeface="Times New Roman" panose="02020603050405020304" pitchFamily="18" charset="0"/>
              </a:rPr>
              <a:t>AI &amp; Analytics</a:t>
            </a:r>
          </a:p>
          <a:p>
            <a:r>
              <a:rPr lang="en-IN" sz="1800" b="1" dirty="0">
                <a:latin typeface="Times New Roman" panose="02020603050405020304" pitchFamily="18" charset="0"/>
                <a:cs typeface="Times New Roman" panose="02020603050405020304" pitchFamily="18" charset="0"/>
              </a:rPr>
              <a:t>LLAMA 3</a:t>
            </a:r>
            <a:r>
              <a:rPr lang="en-IN" sz="1800" dirty="0">
                <a:latin typeface="Times New Roman" panose="02020603050405020304" pitchFamily="18" charset="0"/>
                <a:cs typeface="Times New Roman" panose="02020603050405020304" pitchFamily="18" charset="0"/>
              </a:rPr>
              <a:t> – Conversational AI for therapy chat</a:t>
            </a:r>
          </a:p>
          <a:p>
            <a:r>
              <a:rPr lang="en-IN" sz="1800" b="1" dirty="0">
                <a:latin typeface="Times New Roman" panose="02020603050405020304" pitchFamily="18" charset="0"/>
                <a:cs typeface="Times New Roman" panose="02020603050405020304" pitchFamily="18" charset="0"/>
              </a:rPr>
              <a:t>Custom Emotion Analysis Algorithms</a:t>
            </a:r>
            <a:r>
              <a:rPr lang="en-IN" sz="1800" dirty="0">
                <a:latin typeface="Times New Roman" panose="02020603050405020304" pitchFamily="18" charset="0"/>
                <a:cs typeface="Times New Roman" panose="02020603050405020304" pitchFamily="18" charset="0"/>
              </a:rPr>
              <a:t> – Detects and interprets user emotions</a:t>
            </a:r>
          </a:p>
          <a:p>
            <a:r>
              <a:rPr lang="en-IN" sz="1800" b="1" dirty="0">
                <a:latin typeface="Times New Roman" panose="02020603050405020304" pitchFamily="18" charset="0"/>
                <a:cs typeface="Times New Roman" panose="02020603050405020304" pitchFamily="18" charset="0"/>
              </a:rPr>
              <a:t>Real-time Mood Detection</a:t>
            </a:r>
            <a:r>
              <a:rPr lang="en-IN" sz="1800" dirty="0">
                <a:latin typeface="Times New Roman" panose="02020603050405020304" pitchFamily="18" charset="0"/>
                <a:cs typeface="Times New Roman" panose="02020603050405020304" pitchFamily="18" charset="0"/>
              </a:rPr>
              <a:t> – AI-driven sentiment and tone analysis</a:t>
            </a:r>
          </a:p>
          <a:p>
            <a:pPr marL="114300" indent="0">
              <a:buNone/>
            </a:pPr>
            <a:br>
              <a:rPr lang="en-IN"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a:p>
            <a:pPr marL="114300" indent="0">
              <a:buNone/>
            </a:pPr>
            <a:r>
              <a:rPr lang="en-IN" sz="1800" b="1" dirty="0">
                <a:latin typeface="Times New Roman" panose="02020603050405020304" pitchFamily="18" charset="0"/>
                <a:cs typeface="Times New Roman" panose="02020603050405020304" pitchFamily="18" charset="0"/>
              </a:rPr>
              <a:t>Deployment</a:t>
            </a:r>
          </a:p>
          <a:p>
            <a:r>
              <a:rPr lang="en-IN" sz="1800" b="1" dirty="0">
                <a:latin typeface="Times New Roman" panose="02020603050405020304" pitchFamily="18" charset="0"/>
                <a:cs typeface="Times New Roman" panose="02020603050405020304" pitchFamily="18" charset="0"/>
              </a:rPr>
              <a:t>Git &amp; GitHub/GitLab</a:t>
            </a:r>
            <a:r>
              <a:rPr lang="en-IN" sz="1800" dirty="0">
                <a:latin typeface="Times New Roman" panose="02020603050405020304" pitchFamily="18" charset="0"/>
                <a:cs typeface="Times New Roman" panose="02020603050405020304" pitchFamily="18" charset="0"/>
              </a:rPr>
              <a:t> – Version control and collaboration</a:t>
            </a:r>
          </a:p>
          <a:p>
            <a:pPr marL="114300" lvl="0" indent="0" algn="just" rtl="0">
              <a:lnSpc>
                <a:spcPct val="100000"/>
              </a:lnSpc>
              <a:spcBef>
                <a:spcPts val="360"/>
              </a:spcBef>
              <a:spcAft>
                <a:spcPts val="0"/>
              </a:spcAft>
              <a:buSzPts val="1800"/>
              <a:buNone/>
            </a:pPr>
            <a:endParaRPr sz="1800" dirty="0">
              <a:latin typeface="Times New Roman" panose="02020603050405020304" pitchFamily="18" charset="0"/>
              <a:ea typeface="Times New Roman"/>
              <a:cs typeface="Times New Roman" panose="02020603050405020304" pitchFamily="18" charset="0"/>
              <a:sym typeface="Times New Roman"/>
            </a:endParaRPr>
          </a:p>
        </p:txBody>
      </p:sp>
      <p:sp>
        <p:nvSpPr>
          <p:cNvPr id="74" name="Google Shape;74;p5">
            <a:extLst>
              <a:ext uri="{FF2B5EF4-FFF2-40B4-BE49-F238E27FC236}">
                <a16:creationId xmlns:a16="http://schemas.microsoft.com/office/drawing/2014/main" id="{8EA6D637-D9A7-3C45-1B36-8883307059B6}"/>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spTree>
    <p:extLst>
      <p:ext uri="{BB962C8B-B14F-4D97-AF65-F5344CB8AC3E}">
        <p14:creationId xmlns:p14="http://schemas.microsoft.com/office/powerpoint/2010/main" val="2289763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sz="3600" b="1" dirty="0">
                <a:solidFill>
                  <a:srgbClr val="0C0C0C"/>
                </a:solidFill>
                <a:latin typeface="Times New Roman"/>
                <a:ea typeface="Times New Roman"/>
                <a:cs typeface="Times New Roman"/>
                <a:sym typeface="Times New Roman"/>
              </a:rPr>
              <a:t>                 </a:t>
            </a:r>
            <a:endParaRPr sz="3600" dirty="0"/>
          </a:p>
        </p:txBody>
      </p:sp>
      <p:sp>
        <p:nvSpPr>
          <p:cNvPr id="88" name="Google Shape;88;p7"/>
          <p:cNvSpPr txBox="1">
            <a:spLocks noGrp="1"/>
          </p:cNvSpPr>
          <p:nvPr>
            <p:ph type="body" idx="1"/>
          </p:nvPr>
        </p:nvSpPr>
        <p:spPr>
          <a:xfrm>
            <a:off x="457200" y="947927"/>
            <a:ext cx="8229600" cy="5631777"/>
          </a:xfrm>
          <a:prstGeom prst="rect">
            <a:avLst/>
          </a:prstGeom>
          <a:noFill/>
          <a:ln>
            <a:noFill/>
          </a:ln>
        </p:spPr>
        <p:txBody>
          <a:bodyPr spcFirstLastPara="1" wrap="square" lIns="91425" tIns="45700" rIns="91425" bIns="45700" anchor="t" anchorCtr="0">
            <a:noAutofit/>
          </a:bodyPr>
          <a:lstStyle/>
          <a:p>
            <a:pPr algn="just"/>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Integration with Wearables</a:t>
            </a:r>
            <a:r>
              <a:rPr lang="en-US" sz="1800" dirty="0">
                <a:latin typeface="Times New Roman" panose="02020603050405020304" pitchFamily="18" charset="0"/>
                <a:cs typeface="Times New Roman" panose="02020603050405020304" pitchFamily="18" charset="0"/>
              </a:rPr>
              <a:t> – Collect heart rate, sleep, and stress level data for deeper emotional insights</a:t>
            </a:r>
          </a:p>
          <a:p>
            <a:pPr algn="just"/>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Voice &amp; Sentiment Analysis</a:t>
            </a:r>
            <a:r>
              <a:rPr lang="en-US" sz="1800" dirty="0">
                <a:latin typeface="Times New Roman" panose="02020603050405020304" pitchFamily="18" charset="0"/>
                <a:cs typeface="Times New Roman" panose="02020603050405020304" pitchFamily="18" charset="0"/>
              </a:rPr>
              <a:t> – Detect tone and mood from speech for more natural interactions</a:t>
            </a:r>
          </a:p>
          <a:p>
            <a:pPr algn="just"/>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Multilingual Support</a:t>
            </a:r>
            <a:r>
              <a:rPr lang="en-US" sz="1800" dirty="0">
                <a:latin typeface="Times New Roman" panose="02020603050405020304" pitchFamily="18" charset="0"/>
                <a:cs typeface="Times New Roman" panose="02020603050405020304" pitchFamily="18" charset="0"/>
              </a:rPr>
              <a:t> – Expand accessibility with multiple languages for global users</a:t>
            </a:r>
          </a:p>
          <a:p>
            <a:pPr algn="just"/>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Human-AI Hybrid Therapy</a:t>
            </a:r>
            <a:r>
              <a:rPr lang="en-US" sz="1800" dirty="0">
                <a:latin typeface="Times New Roman" panose="02020603050405020304" pitchFamily="18" charset="0"/>
                <a:cs typeface="Times New Roman" panose="02020603050405020304" pitchFamily="18" charset="0"/>
              </a:rPr>
              <a:t> – Option to connect with certified therapists when needed</a:t>
            </a:r>
          </a:p>
          <a:p>
            <a:pPr algn="just"/>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Mobile App Development</a:t>
            </a:r>
            <a:r>
              <a:rPr lang="en-US" sz="1800" dirty="0">
                <a:latin typeface="Times New Roman" panose="02020603050405020304" pitchFamily="18" charset="0"/>
                <a:cs typeface="Times New Roman" panose="02020603050405020304" pitchFamily="18" charset="0"/>
              </a:rPr>
              <a:t> – Dedicated Android &amp; iOS apps for on-the-go support</a:t>
            </a:r>
          </a:p>
          <a:p>
            <a:pPr algn="just"/>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Smart Notifications &amp; Reminders</a:t>
            </a:r>
            <a:r>
              <a:rPr lang="en-US" sz="1800" dirty="0">
                <a:latin typeface="Times New Roman" panose="02020603050405020304" pitchFamily="18" charset="0"/>
                <a:cs typeface="Times New Roman" panose="02020603050405020304" pitchFamily="18" charset="0"/>
              </a:rPr>
              <a:t> – Gentle nudges for mental health check-ins and self-care activities</a:t>
            </a:r>
          </a:p>
          <a:p>
            <a:pPr algn="just"/>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Advanced Analytics Dashboard</a:t>
            </a:r>
            <a:r>
              <a:rPr lang="en-US" sz="1800" dirty="0">
                <a:latin typeface="Times New Roman" panose="02020603050405020304" pitchFamily="18" charset="0"/>
                <a:cs typeface="Times New Roman" panose="02020603050405020304" pitchFamily="18" charset="0"/>
              </a:rPr>
              <a:t> – Deeper visualization of emotional trends and progress</a:t>
            </a:r>
          </a:p>
          <a:p>
            <a:pPr algn="just"/>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Third-Party Integrations</a:t>
            </a:r>
            <a:r>
              <a:rPr lang="en-US" sz="1800" dirty="0">
                <a:latin typeface="Times New Roman" panose="02020603050405020304" pitchFamily="18" charset="0"/>
                <a:cs typeface="Times New Roman" panose="02020603050405020304" pitchFamily="18" charset="0"/>
              </a:rPr>
              <a:t> – Connect with platforms like Google Fit, Apple Health, or EHR systems</a:t>
            </a:r>
          </a:p>
          <a:p>
            <a:pPr algn="just"/>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Enhanced Data Privacy</a:t>
            </a:r>
            <a:r>
              <a:rPr lang="en-US" sz="1800" dirty="0">
                <a:latin typeface="Times New Roman" panose="02020603050405020304" pitchFamily="18" charset="0"/>
                <a:cs typeface="Times New Roman" panose="02020603050405020304" pitchFamily="18" charset="0"/>
              </a:rPr>
              <a:t> – End-to-end encryption and compliance with HIPAA/GDPR standards</a:t>
            </a:r>
          </a:p>
        </p:txBody>
      </p:sp>
      <p:sp>
        <p:nvSpPr>
          <p:cNvPr id="89" name="Google Shape;89;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sp>
        <p:nvSpPr>
          <p:cNvPr id="90" name="Google Shape;90;p7"/>
          <p:cNvSpPr/>
          <p:nvPr/>
        </p:nvSpPr>
        <p:spPr>
          <a:xfrm>
            <a:off x="877824" y="188288"/>
            <a:ext cx="662587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Times New Roman"/>
                <a:ea typeface="Times New Roman"/>
                <a:cs typeface="Times New Roman"/>
                <a:sym typeface="Times New Roman"/>
              </a:rPr>
              <a:t>Future Enhancements</a:t>
            </a:r>
            <a:endParaRPr sz="2400" b="0" i="0" u="none" strike="noStrike" cap="none" dirty="0">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sp>
        <p:nvSpPr>
          <p:cNvPr id="104" name="Google Shape;104;p9"/>
          <p:cNvSpPr txBox="1"/>
          <p:nvPr/>
        </p:nvSpPr>
        <p:spPr>
          <a:xfrm>
            <a:off x="599825" y="2179350"/>
            <a:ext cx="7737900" cy="19548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9600"/>
              <a:buFont typeface="Arial"/>
              <a:buNone/>
            </a:pPr>
            <a:r>
              <a:rPr lang="en-US" sz="11500" b="1" i="0" u="none" strike="noStrike" cap="none">
                <a:solidFill>
                  <a:srgbClr val="D6E3BC"/>
                </a:solidFill>
                <a:latin typeface="Arial"/>
                <a:ea typeface="Arial"/>
                <a:cs typeface="Arial"/>
                <a:sym typeface="Arial"/>
              </a:rPr>
              <a:t> </a:t>
            </a:r>
            <a:endParaRPr sz="1400" b="0" i="0" u="none" strike="noStrike" cap="none">
              <a:solidFill>
                <a:schemeClr val="dk1"/>
              </a:solidFill>
              <a:latin typeface="Arial"/>
              <a:ea typeface="Arial"/>
              <a:cs typeface="Arial"/>
              <a:sym typeface="Arial"/>
            </a:endParaRPr>
          </a:p>
        </p:txBody>
      </p:sp>
      <p:sp>
        <p:nvSpPr>
          <p:cNvPr id="105" name="Google Shape;105;p9"/>
          <p:cNvSpPr/>
          <p:nvPr/>
        </p:nvSpPr>
        <p:spPr>
          <a:xfrm>
            <a:off x="1325045" y="213860"/>
            <a:ext cx="4267515"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Times New Roman"/>
                <a:ea typeface="Times New Roman"/>
                <a:cs typeface="Times New Roman"/>
                <a:sym typeface="Times New Roman"/>
              </a:rPr>
              <a:t>Project Screen Shots</a:t>
            </a:r>
            <a:endParaRPr sz="2800" b="0"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D11F9F45-ED6B-827C-CD57-E33AFA1F6BC8}"/>
              </a:ext>
            </a:extLst>
          </p:cNvPr>
          <p:cNvPicPr>
            <a:picLocks noChangeAspect="1"/>
          </p:cNvPicPr>
          <p:nvPr/>
        </p:nvPicPr>
        <p:blipFill>
          <a:blip r:embed="rId3"/>
          <a:stretch>
            <a:fillRect/>
          </a:stretch>
        </p:blipFill>
        <p:spPr>
          <a:xfrm>
            <a:off x="703050" y="1511774"/>
            <a:ext cx="7737900" cy="405390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sp>
        <p:nvSpPr>
          <p:cNvPr id="112" name="Google Shape;112;p10"/>
          <p:cNvSpPr txBox="1"/>
          <p:nvPr/>
        </p:nvSpPr>
        <p:spPr>
          <a:xfrm>
            <a:off x="599825" y="2179350"/>
            <a:ext cx="7737900" cy="19548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9600"/>
              <a:buFont typeface="Arial"/>
              <a:buNone/>
            </a:pPr>
            <a:r>
              <a:rPr lang="en-US" sz="11500" b="1" i="0" u="none" strike="noStrike" cap="none">
                <a:solidFill>
                  <a:srgbClr val="D6E3BC"/>
                </a:solidFill>
                <a:latin typeface="Arial"/>
                <a:ea typeface="Arial"/>
                <a:cs typeface="Arial"/>
                <a:sym typeface="Arial"/>
              </a:rPr>
              <a:t> </a:t>
            </a:r>
            <a:endParaRPr sz="1400" b="0" i="0" u="none" strike="noStrike" cap="none">
              <a:solidFill>
                <a:schemeClr val="dk1"/>
              </a:solidFill>
              <a:latin typeface="Arial"/>
              <a:ea typeface="Arial"/>
              <a:cs typeface="Arial"/>
              <a:sym typeface="Arial"/>
            </a:endParaRPr>
          </a:p>
        </p:txBody>
      </p:sp>
      <p:pic>
        <p:nvPicPr>
          <p:cNvPr id="3" name="Picture 2">
            <a:extLst>
              <a:ext uri="{FF2B5EF4-FFF2-40B4-BE49-F238E27FC236}">
                <a16:creationId xmlns:a16="http://schemas.microsoft.com/office/drawing/2014/main" id="{ABC9AF57-BA60-47B2-6051-15EF4BBA93CB}"/>
              </a:ext>
            </a:extLst>
          </p:cNvPr>
          <p:cNvPicPr>
            <a:picLocks noChangeAspect="1"/>
          </p:cNvPicPr>
          <p:nvPr/>
        </p:nvPicPr>
        <p:blipFill>
          <a:blip r:embed="rId3"/>
          <a:stretch>
            <a:fillRect/>
          </a:stretch>
        </p:blipFill>
        <p:spPr>
          <a:xfrm>
            <a:off x="523667" y="1294124"/>
            <a:ext cx="8096666" cy="5062226"/>
          </a:xfrm>
          <a:prstGeom prst="rect">
            <a:avLst/>
          </a:prstGeom>
        </p:spPr>
      </p:pic>
      <p:sp>
        <p:nvSpPr>
          <p:cNvPr id="4" name="Google Shape;105;p9">
            <a:extLst>
              <a:ext uri="{FF2B5EF4-FFF2-40B4-BE49-F238E27FC236}">
                <a16:creationId xmlns:a16="http://schemas.microsoft.com/office/drawing/2014/main" id="{E0BABAB3-D28A-DB40-F389-5B404F39DA34}"/>
              </a:ext>
            </a:extLst>
          </p:cNvPr>
          <p:cNvSpPr/>
          <p:nvPr/>
        </p:nvSpPr>
        <p:spPr>
          <a:xfrm>
            <a:off x="1411608" y="183380"/>
            <a:ext cx="4267515"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Times New Roman"/>
                <a:ea typeface="Times New Roman"/>
                <a:cs typeface="Times New Roman"/>
                <a:sym typeface="Times New Roman"/>
              </a:rPr>
              <a:t>Project Screen Shots</a:t>
            </a:r>
            <a:endParaRPr sz="2800" b="0" i="0" u="none" strike="noStrike" cap="none" dirty="0">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sp>
        <p:nvSpPr>
          <p:cNvPr id="120" name="Google Shape;120;p11"/>
          <p:cNvSpPr txBox="1"/>
          <p:nvPr/>
        </p:nvSpPr>
        <p:spPr>
          <a:xfrm>
            <a:off x="599825" y="2179350"/>
            <a:ext cx="7737900" cy="19548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9600"/>
              <a:buFont typeface="Arial"/>
              <a:buNone/>
            </a:pPr>
            <a:r>
              <a:rPr lang="en-US" sz="11500" b="1" i="0" u="none" strike="noStrike" cap="none">
                <a:solidFill>
                  <a:srgbClr val="D6E3BC"/>
                </a:solidFill>
                <a:latin typeface="Arial"/>
                <a:ea typeface="Arial"/>
                <a:cs typeface="Arial"/>
                <a:sym typeface="Arial"/>
              </a:rPr>
              <a:t> </a:t>
            </a:r>
            <a:endParaRPr sz="1400" b="0" i="0" u="none" strike="noStrike" cap="none">
              <a:solidFill>
                <a:schemeClr val="dk1"/>
              </a:solidFill>
              <a:latin typeface="Arial"/>
              <a:ea typeface="Arial"/>
              <a:cs typeface="Arial"/>
              <a:sym typeface="Arial"/>
            </a:endParaRPr>
          </a:p>
        </p:txBody>
      </p:sp>
      <p:sp>
        <p:nvSpPr>
          <p:cNvPr id="121" name="Google Shape;121;p11"/>
          <p:cNvSpPr/>
          <p:nvPr/>
        </p:nvSpPr>
        <p:spPr>
          <a:xfrm>
            <a:off x="1325045" y="213860"/>
            <a:ext cx="4267515"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Times New Roman"/>
                <a:ea typeface="Times New Roman"/>
                <a:cs typeface="Times New Roman"/>
                <a:sym typeface="Times New Roman"/>
              </a:rPr>
              <a:t>Code Snippets</a:t>
            </a:r>
            <a:endParaRPr sz="2800" b="0"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A6E23205-5A4D-BE5B-2699-3C797BA0B650}"/>
              </a:ext>
            </a:extLst>
          </p:cNvPr>
          <p:cNvPicPr>
            <a:picLocks noChangeAspect="1"/>
          </p:cNvPicPr>
          <p:nvPr/>
        </p:nvPicPr>
        <p:blipFill>
          <a:blip r:embed="rId3"/>
          <a:stretch>
            <a:fillRect/>
          </a:stretch>
        </p:blipFill>
        <p:spPr>
          <a:xfrm>
            <a:off x="703050" y="1481156"/>
            <a:ext cx="7737900" cy="459988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g38232206ad3_1_0"/>
          <p:cNvSpPr txBox="1">
            <a:spLocks noGrp="1"/>
          </p:cNvSpPr>
          <p:nvPr>
            <p:ph type="body" idx="1"/>
          </p:nvPr>
        </p:nvSpPr>
        <p:spPr>
          <a:xfrm>
            <a:off x="457200" y="1040000"/>
            <a:ext cx="8229600" cy="4526100"/>
          </a:xfrm>
          <a:prstGeom prst="rect">
            <a:avLst/>
          </a:prstGeom>
        </p:spPr>
        <p:txBody>
          <a:bodyPr spcFirstLastPara="1" wrap="square" lIns="91425" tIns="45700" rIns="91425" bIns="45700" anchor="ctr" anchorCtr="0">
            <a:noAutofit/>
          </a:bodyPr>
          <a:lstStyle/>
          <a:p>
            <a:pPr marL="0" lvl="0" indent="0" algn="ctr" rtl="0">
              <a:spcBef>
                <a:spcPts val="360"/>
              </a:spcBef>
              <a:spcAft>
                <a:spcPts val="0"/>
              </a:spcAft>
              <a:buNone/>
            </a:pPr>
            <a:r>
              <a:rPr lang="en-US" sz="10100">
                <a:solidFill>
                  <a:srgbClr val="FF3300"/>
                </a:solidFill>
              </a:rPr>
              <a:t>Thank You</a:t>
            </a:r>
            <a:endParaRPr sz="10100">
              <a:solidFill>
                <a:srgbClr val="FF3300"/>
              </a:solidFill>
            </a:endParaRPr>
          </a:p>
        </p:txBody>
      </p:sp>
      <p:sp>
        <p:nvSpPr>
          <p:cNvPr id="129" name="Google Shape;129;g38232206ad3_1_0"/>
          <p:cNvSpPr txBox="1">
            <a:spLocks noGrp="1"/>
          </p:cNvSpPr>
          <p:nvPr>
            <p:ph type="sldNum" idx="12"/>
          </p:nvPr>
        </p:nvSpPr>
        <p:spPr>
          <a:xfrm>
            <a:off x="6553200" y="6356350"/>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TotalTime>
  <Words>671</Words>
  <Application>Microsoft Office PowerPoint</Application>
  <PresentationFormat>On-screen Show (4:3)</PresentationFormat>
  <Paragraphs>106</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PowerPoint Presentation</vt:lpstr>
      <vt:lpstr>PowerPoint Presentation</vt:lpstr>
      <vt:lpstr>Introduction</vt:lpstr>
      <vt:lpstr>Features</vt:lpstr>
      <vt:lpstr>Features</vt:lpstr>
      <vt:lpstr>Tech Stack</vt:lpstr>
      <vt:lpstr>Tech Stack</vt:lpstr>
      <vt:lpstr>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ISHAAN RAI</dc:creator>
  <cp:lastModifiedBy>Ishaan Rai</cp:lastModifiedBy>
  <cp:revision>14</cp:revision>
  <dcterms:modified xsi:type="dcterms:W3CDTF">2025-09-24T09:56:21Z</dcterms:modified>
</cp:coreProperties>
</file>